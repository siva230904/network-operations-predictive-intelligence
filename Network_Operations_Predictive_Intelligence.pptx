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Network Operations Predictive Intelligence Capstone presentation. This system processes massive CDR telemetry from Telecom Italia Mobile across 10,000 spatial grids in Milan, running distributed PySpark ETL, MySQL warehousing, Airflow DAG orchestration, FastAPI backend, ML risk scoring, and a React NOC Operations Dashboard.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Telecom network operations face massive scale and spatial complexity. Our platform transforms raw CDR telemetry into proactive, predictive intelligence using a 10,000-cell grid system in Milan, PySpark ETL, ML risk scoring, and a React NOC Command Center.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end-to-end architecture connects four major layers: Raw Telecom Telemetry ingestion, Distributed PySpark ETL processing, Parquet/MySQL Analytics Warehousing orchestrated by Airflow, and FastAPI REST APIs feeding the React NOC UI and ML Predictive Risk Engine.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dataset covers Milan divided into a 100x100 spatial grid (10,000 cells). Raw Call Detail Records (CDR) track incoming/outgoing SMS, calls, and internet traffic per grid cell per 10-minute interval.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1 implements baseline Python modules: NP1 for data profiling, NP2 UsageProcessor for aggregating activity, and NP3 NetworkAlertGenerator for statistical anomaly detection.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2 scales processing using PySpark. SP1 through SP6 handle ingestion, data quality cleaning, hourly spatial aggregation, GeoJSON polygon enrichment, and partitioned Parquet writing. SP7 provides the production unified script.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architecture visualizes the distributed PySpark pipeline. Data moves from raw telemetry to SP2 quality cleaning, SP3 grid/hourly aggregation, and SP4 broadcast spatial enrichment with GeoJSON grid coordinates.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3 establishes the analytics warehouse schema in MySQL and automates execution using Apache Airflow DAG de7_end_to_end_dag. Data flows seamlessly from Spark Parquet output into relational fact and dimension tables.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4 delivers the REST API using FastAPI. Routers expose network summaries, grid time series, hotspot alerts, ML features, and real-time risk predictions with sub-second response times.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5 delivers the Network Operations Control Room UI built with React 19, Vite, Leaflet GIS mapping, and Recharts visualization. Operators can explore grid health, inspect hotspot alerts, and view predictive risk scores.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6 introduces predictive machine learning. ML2 constructs rolling activity features and deltas, ML3 trains a Logistic Regression classifier, and ML6 batch-scores all 10,000 grids hourly to predict congestion and outage risk.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details the ML inference pipeline from raw feature extraction to scaler normalization, model inference, and outputting risk levels to the NOC UI.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contains formatted screenshot placeholders for displaying the final project outputs, including the React NOC Dashboard, Leaflet Milan Grid Map, Predictive Risk UI, Airflow DAG, and FastAPI Swagger interface.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6 implementation phases have been thoroughly verified and tested. PySpark processes 4.1GB of telemetry in under 45 seconds, API endpoints respond in under 50ms, and ML batch scoring takes under 3 seconds.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summary, the platform delivers proactive predictive intelligence for network operations. Future enhancements include Phase 7 Claude AI Natural Language Operations, Kafka real-time streaming, and multi-city expansion.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371600"/>
            <a:ext cx="137160" cy="4114800"/>
          </a:xfrm>
          <a:prstGeom prst="rect">
            <a:avLst/>
          </a:prstGeom>
          <a:solidFill>
            <a:srgbClr val="0EA5E9"/>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371600"/>
            <a:ext cx="10058400" cy="4114800"/>
          </a:xfrm>
          <a:prstGeom prst="rect">
            <a:avLst/>
          </a:prstGeom>
          <a:noFill/>
        </p:spPr>
        <p:txBody>
          <a:bodyPr wrap="square">
            <a:spAutoFit/>
          </a:bodyPr>
          <a:lstStyle/>
          <a:p>
            <a:pPr>
              <a:defRPr sz="3400" b="1">
                <a:solidFill>
                  <a:srgbClr val="FFFFFF"/>
                </a:solidFill>
              </a:defRPr>
            </a:pPr>
            <a:r>
              <a:t>NETWORK OPERATIONS &amp; PREDICTIVE INTELLIGENCE</a:t>
            </a:r>
          </a:p>
          <a:p>
            <a:pPr>
              <a:defRPr sz="1800">
                <a:solidFill>
                  <a:srgbClr val="0EA5E9"/>
                </a:solidFill>
              </a:defRPr>
            </a:pPr>
            <a:r>
              <a:t>End-to-End Telecom Data Engineering, PySpark ETL &amp; ML Anomaly Detection Platform</a:t>
            </a:r>
          </a:p>
          <a:p>
            <a:br/>
            <a:pPr>
              <a:defRPr sz="1400">
                <a:solidFill>
                  <a:srgbClr val="64748B"/>
                </a:solidFill>
              </a:defRPr>
            </a:pPr>
            <a:r>
              <a:t>Milano Telemetry Spatial-Temporal Analysis | 10,000 Grid Network Monitoring</a:t>
            </a:r>
          </a:p>
        </p:txBody>
      </p:sp>
      <p:sp>
        <p:nvSpPr>
          <p:cNvPr id="5" name="Rounded Rectangle 4"/>
          <p:cNvSpPr/>
          <p:nvPr/>
        </p:nvSpPr>
        <p:spPr>
          <a:xfrm>
            <a:off x="1097280" y="4389120"/>
            <a:ext cx="9875520" cy="1645920"/>
          </a:xfrm>
          <a:prstGeom prst="roundRect">
            <a:avLst/>
          </a:prstGeom>
          <a:solidFill>
            <a:srgbClr val="1E3A8A"/>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4480560"/>
            <a:ext cx="9509760" cy="1371600"/>
          </a:xfrm>
          <a:prstGeom prst="rect">
            <a:avLst/>
          </a:prstGeom>
          <a:noFill/>
        </p:spPr>
        <p:txBody>
          <a:bodyPr wrap="square">
            <a:spAutoFit/>
          </a:bodyPr>
          <a:lstStyle/>
          <a:p>
            <a:pPr>
              <a:defRPr sz="1300" b="1">
                <a:solidFill>
                  <a:srgbClr val="FFFFFF"/>
                </a:solidFill>
              </a:defRPr>
            </a:pPr>
            <a:r>
              <a:t>Core Tech Stack &amp; Architecture:</a:t>
            </a:r>
          </a:p>
          <a:p>
            <a:pPr>
              <a:defRPr sz="1200">
                <a:solidFill>
                  <a:srgbClr val="E0F2FE"/>
                </a:solidFill>
              </a:defRPr>
            </a:pPr>
            <a:r>
              <a:t>• Processing: Python 3.x, Apache Spark (PySpark 3.x)   • Warehouse: MySQL Analytics Warehouse</a:t>
            </a:r>
          </a:p>
          <a:p>
            <a:pPr>
              <a:defRPr sz="1200">
                <a:solidFill>
                  <a:srgbClr val="E0F2FE"/>
                </a:solidFill>
              </a:defRPr>
            </a:pPr>
            <a:r>
              <a:t>• Orchestration: Apache Airflow (DE7 DAG)              • Backend &amp; ML: FastAPI, Scikit-Learn (Logistic Regression)</a:t>
            </a:r>
          </a:p>
          <a:p>
            <a:pPr>
              <a:defRPr sz="1200">
                <a:solidFill>
                  <a:srgbClr val="E0F2FE"/>
                </a:solidFill>
              </a:defRPr>
            </a:pPr>
            <a:r>
              <a:t>• Operations UI: React 19, Leaflet Map, Recharts       • Dataset: Telecom Italia Mobile (CDR Telemetry)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EA5E9"/>
                </a:solidFill>
              </a:defRPr>
            </a:pPr>
            <a:r>
              <a:t>NETWORK OPERATIONS PREDICTIVE INTELLIGENCE</a:t>
            </a:r>
          </a:p>
          <a:p>
            <a:pPr>
              <a:defRPr sz="2200" b="1">
                <a:solidFill>
                  <a:srgbClr val="FFFFFF"/>
                </a:solidFill>
              </a:defRPr>
            </a:pPr>
            <a:r>
              <a:t>1. Executive Summary &amp; Operational Problem Statement</a:t>
            </a:r>
          </a:p>
        </p:txBody>
      </p:sp>
      <p:sp>
        <p:nvSpPr>
          <p:cNvPr id="3" name="Rectangle 2"/>
          <p:cNvSpPr/>
          <p:nvPr/>
        </p:nvSpPr>
        <p:spPr>
          <a:xfrm>
            <a:off x="0" y="1005840"/>
            <a:ext cx="12191695" cy="54864"/>
          </a:xfrm>
          <a:prstGeom prst="rect">
            <a:avLst/>
          </a:prstGeom>
          <a:solidFill>
            <a:srgbClr val="0EA5E9"/>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371600"/>
            <a:ext cx="512064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4754880" cy="4572000"/>
          </a:xfrm>
          <a:prstGeom prst="rect">
            <a:avLst/>
          </a:prstGeom>
          <a:noFill/>
        </p:spPr>
        <p:txBody>
          <a:bodyPr wrap="square">
            <a:spAutoFit/>
          </a:bodyPr>
          <a:lstStyle/>
          <a:p>
            <a:pPr>
              <a:defRPr sz="1800" b="1">
                <a:solidFill>
                  <a:srgbClr val="E11D48"/>
                </a:solidFill>
              </a:defRPr>
            </a:pPr>
            <a:r>
              <a:t>🚨 Operational Challenges in Telecom NOC</a:t>
            </a:r>
          </a:p>
          <a:p>
            <a:pPr>
              <a:defRPr b="1" sz="1200">
                <a:solidFill>
                  <a:srgbClr val="0F172A"/>
                </a:solidFill>
              </a:defRPr>
            </a:pPr>
            <a:br/>
            <a:r>
              <a:t>• High Telemetry Volume: Raw CDR data streams generate millions of SMS, call, and internet records requiring real-time parsing.</a:t>
            </a:r>
          </a:p>
          <a:p>
            <a:pPr>
              <a:defRPr b="1" sz="1200">
                <a:solidFill>
                  <a:srgbClr val="0F172A"/>
                </a:solidFill>
              </a:defRPr>
            </a:pPr>
            <a:br/>
            <a:r>
              <a:t>• Spatial Granularity Gaps: Traditional monitoring aggregates by city/region, masking localized tower outages and grid congestion.</a:t>
            </a:r>
          </a:p>
          <a:p>
            <a:pPr>
              <a:defRPr b="1" sz="1200">
                <a:solidFill>
                  <a:srgbClr val="0F172A"/>
                </a:solidFill>
              </a:defRPr>
            </a:pPr>
            <a:br/>
            <a:r>
              <a:t>• Reactive Incident Response: Operators react after user complaints occur rather than anticipating traffic surges and anomalies.</a:t>
            </a:r>
          </a:p>
          <a:p>
            <a:pPr>
              <a:defRPr b="1" sz="1200">
                <a:solidFill>
                  <a:srgbClr val="0F172A"/>
                </a:solidFill>
              </a:defRPr>
            </a:pPr>
            <a:br/>
            <a:r>
              <a:t>• Data Pipeline Silos: Fragmented data processing creates delays between data ingestion, ETL, warehousing, and visual reporting.</a:t>
            </a:r>
          </a:p>
        </p:txBody>
      </p:sp>
      <p:sp>
        <p:nvSpPr>
          <p:cNvPr id="6" name="Rounded Rectangle 5"/>
          <p:cNvSpPr/>
          <p:nvPr/>
        </p:nvSpPr>
        <p:spPr>
          <a:xfrm>
            <a:off x="6217920" y="1371600"/>
            <a:ext cx="521208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554480"/>
            <a:ext cx="4846320" cy="4572000"/>
          </a:xfrm>
          <a:prstGeom prst="rect">
            <a:avLst/>
          </a:prstGeom>
          <a:noFill/>
        </p:spPr>
        <p:txBody>
          <a:bodyPr wrap="square">
            <a:spAutoFit/>
          </a:bodyPr>
          <a:lstStyle/>
          <a:p>
            <a:pPr>
              <a:defRPr sz="1800" b="1">
                <a:solidFill>
                  <a:srgbClr val="10B981"/>
                </a:solidFill>
              </a:defRPr>
            </a:pPr>
            <a:r>
              <a:t>💡 The Predictive Intelligence Solution</a:t>
            </a:r>
          </a:p>
          <a:p>
            <a:pPr>
              <a:defRPr b="1" sz="1200">
                <a:solidFill>
                  <a:srgbClr val="0F172A"/>
                </a:solidFill>
              </a:defRPr>
            </a:pPr>
            <a:br/>
            <a:r>
              <a:t>• 10,000 Grid Resolution: Milan spatial grid mapping (235m x 235m) for pinpoint geographic monitoring.</a:t>
            </a:r>
          </a:p>
          <a:p>
            <a:pPr>
              <a:defRPr b="1" sz="1200">
                <a:solidFill>
                  <a:srgbClr val="0F172A"/>
                </a:solidFill>
              </a:defRPr>
            </a:pPr>
            <a:br/>
            <a:r>
              <a:t>• Distributed PySpark ETL: High-throughput data cleaning, aggregation, and GeoJSON enrichment pipelines.</a:t>
            </a:r>
          </a:p>
          <a:p>
            <a:pPr>
              <a:defRPr b="1" sz="1200">
                <a:solidFill>
                  <a:srgbClr val="0F172A"/>
                </a:solidFill>
              </a:defRPr>
            </a:pPr>
            <a:br/>
            <a:r>
              <a:t>• Automated Airflow DAGs: Orchestrated end-to-end ingestion and warehouse sync with retry fault-tolerance.</a:t>
            </a:r>
          </a:p>
          <a:p>
            <a:pPr>
              <a:defRPr b="1" sz="1200">
                <a:solidFill>
                  <a:srgbClr val="0F172A"/>
                </a:solidFill>
              </a:defRPr>
            </a:pPr>
            <a:br/>
            <a:r>
              <a:t>• ML Predictive Intelligence: Logistic regression classifier delivering batch and real-time network anomaly risk scoring.</a:t>
            </a:r>
          </a:p>
          <a:p>
            <a:pPr>
              <a:defRPr b="1" sz="1200">
                <a:solidFill>
                  <a:srgbClr val="0F172A"/>
                </a:solidFill>
              </a:defRPr>
            </a:pPr>
            <a:br/>
            <a:r>
              <a:t>• Interactive NOC Dashboard: React + Leaflet GIS maps providing operators with real-time risk heatmaps &amp; alert feeds.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EA5E9"/>
                </a:solidFill>
              </a:defRPr>
            </a:pPr>
            <a:r>
              <a:t>NETWORK OPERATIONS PREDICTIVE INTELLIGENCE</a:t>
            </a:r>
          </a:p>
          <a:p>
            <a:pPr>
              <a:defRPr sz="2200" b="1">
                <a:solidFill>
                  <a:srgbClr val="FFFFFF"/>
                </a:solidFill>
              </a:defRPr>
            </a:pPr>
            <a:r>
              <a:t>2. End-to-End Technical System Architecture</a:t>
            </a:r>
          </a:p>
        </p:txBody>
      </p:sp>
      <p:sp>
        <p:nvSpPr>
          <p:cNvPr id="3" name="Rectangle 2"/>
          <p:cNvSpPr/>
          <p:nvPr/>
        </p:nvSpPr>
        <p:spPr>
          <a:xfrm>
            <a:off x="0" y="1005840"/>
            <a:ext cx="12191695" cy="54864"/>
          </a:xfrm>
          <a:prstGeom prst="rect">
            <a:avLst/>
          </a:prstGeom>
          <a:solidFill>
            <a:srgbClr val="0EA5E9"/>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371600"/>
            <a:ext cx="2377440" cy="4937760"/>
          </a:xfrm>
          <a:prstGeom prst="roundRect">
            <a:avLst/>
          </a:prstGeom>
          <a:solidFill>
            <a:srgbClr val="F1F5F9"/>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554480"/>
            <a:ext cx="2194560" cy="4572000"/>
          </a:xfrm>
          <a:prstGeom prst="rect">
            <a:avLst/>
          </a:prstGeom>
          <a:noFill/>
        </p:spPr>
        <p:txBody>
          <a:bodyPr wrap="square">
            <a:spAutoFit/>
          </a:bodyPr>
          <a:lstStyle/>
          <a:p>
            <a:pPr>
              <a:defRPr sz="1400" b="1">
                <a:solidFill>
                  <a:srgbClr val="0F172A"/>
                </a:solidFill>
              </a:defRPr>
            </a:pPr>
            <a:r>
              <a:t>1. RAW TELEMETRY</a:t>
            </a:r>
          </a:p>
          <a:p>
            <a:br/>
            <a:pPr>
              <a:defRPr sz="1100">
                <a:solidFill>
                  <a:srgbClr val="0F172A"/>
                </a:solidFill>
              </a:defRPr>
            </a:pPr>
            <a:r>
              <a:t>Telecom Italia CDR Files</a:t>
            </a:r>
            <a:br/>
            <a:r>
              <a:t>(SMS In/Out, Call In/Out, Internet)</a:t>
            </a:r>
          </a:p>
        </p:txBody>
      </p:sp>
      <p:sp>
        <p:nvSpPr>
          <p:cNvPr id="6" name="Rounded Rectangle 5"/>
          <p:cNvSpPr/>
          <p:nvPr/>
        </p:nvSpPr>
        <p:spPr>
          <a:xfrm>
            <a:off x="3383280" y="1371600"/>
            <a:ext cx="2468880" cy="4937760"/>
          </a:xfrm>
          <a:prstGeom prst="roundRect">
            <a:avLst/>
          </a:prstGeom>
          <a:solidFill>
            <a:srgbClr val="E0F2FE"/>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474720" y="1554480"/>
            <a:ext cx="2286000" cy="4572000"/>
          </a:xfrm>
          <a:prstGeom prst="rect">
            <a:avLst/>
          </a:prstGeom>
          <a:noFill/>
        </p:spPr>
        <p:txBody>
          <a:bodyPr wrap="square">
            <a:spAutoFit/>
          </a:bodyPr>
          <a:lstStyle/>
          <a:p>
            <a:pPr>
              <a:defRPr sz="1400" b="1">
                <a:solidFill>
                  <a:srgbClr val="0F172A"/>
                </a:solidFill>
              </a:defRPr>
            </a:pPr>
            <a:r>
              <a:t>2. SPARK ETL ENGINE</a:t>
            </a:r>
          </a:p>
          <a:p>
            <a:br/>
            <a:pPr>
              <a:defRPr sz="1100">
                <a:solidFill>
                  <a:srgbClr val="0F172A"/>
                </a:solidFill>
              </a:defRPr>
            </a:pPr>
            <a:r>
              <a:t>Phase 1 &amp; Phase 2 Pipeline</a:t>
            </a:r>
            <a:br/>
            <a:r>
              <a:t>• SP1 Ingestion &amp; Profile</a:t>
            </a:r>
            <a:br/>
            <a:r>
              <a:t>• SP2 Cleaning &amp; Reject</a:t>
            </a:r>
            <a:br/>
            <a:r>
              <a:t>• SP3 Hourly Aggregation</a:t>
            </a:r>
            <a:br/>
            <a:r>
              <a:t>• SP4 Spatial Geo Enrichment</a:t>
            </a:r>
          </a:p>
        </p:txBody>
      </p:sp>
      <p:sp>
        <p:nvSpPr>
          <p:cNvPr id="8" name="Rounded Rectangle 7"/>
          <p:cNvSpPr/>
          <p:nvPr/>
        </p:nvSpPr>
        <p:spPr>
          <a:xfrm>
            <a:off x="6126480" y="1371600"/>
            <a:ext cx="2468880" cy="4937760"/>
          </a:xfrm>
          <a:prstGeom prst="roundRect">
            <a:avLst/>
          </a:prstGeom>
          <a:solidFill>
            <a:srgbClr val="EDE9FE"/>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0" y="1554480"/>
            <a:ext cx="2286000" cy="4572000"/>
          </a:xfrm>
          <a:prstGeom prst="rect">
            <a:avLst/>
          </a:prstGeom>
          <a:noFill/>
        </p:spPr>
        <p:txBody>
          <a:bodyPr wrap="square">
            <a:spAutoFit/>
          </a:bodyPr>
          <a:lstStyle/>
          <a:p>
            <a:pPr>
              <a:defRPr sz="1400" b="1">
                <a:solidFill>
                  <a:srgbClr val="0F172A"/>
                </a:solidFill>
              </a:defRPr>
            </a:pPr>
            <a:r>
              <a:t>3. STORAGE &amp; ORCH</a:t>
            </a:r>
          </a:p>
          <a:p>
            <a:br/>
            <a:pPr>
              <a:defRPr sz="1100">
                <a:solidFill>
                  <a:srgbClr val="0F172A"/>
                </a:solidFill>
              </a:defRPr>
            </a:pPr>
            <a:r>
              <a:t>Phase 3 Warehouse &amp; Airflow</a:t>
            </a:r>
            <a:br/>
            <a:r>
              <a:t>• Parquet Analytics Zone</a:t>
            </a:r>
            <a:br/>
            <a:r>
              <a:t>• MySQL Star Schema DB</a:t>
            </a:r>
            <a:br/>
            <a:r>
              <a:t>• Airflow Orchestration DAG</a:t>
            </a:r>
            <a:br/>
            <a:r>
              <a:t>  (de7_end_to_end_dag)</a:t>
            </a:r>
          </a:p>
        </p:txBody>
      </p:sp>
      <p:sp>
        <p:nvSpPr>
          <p:cNvPr id="10" name="Rounded Rectangle 9"/>
          <p:cNvSpPr/>
          <p:nvPr/>
        </p:nvSpPr>
        <p:spPr>
          <a:xfrm>
            <a:off x="8869680" y="1371600"/>
            <a:ext cx="2560320" cy="4937760"/>
          </a:xfrm>
          <a:prstGeom prst="roundRect">
            <a:avLst/>
          </a:prstGeom>
          <a:solidFill>
            <a:srgbClr val="DCFCE7"/>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19" y="1554480"/>
            <a:ext cx="2377439" cy="4572000"/>
          </a:xfrm>
          <a:prstGeom prst="rect">
            <a:avLst/>
          </a:prstGeom>
          <a:noFill/>
        </p:spPr>
        <p:txBody>
          <a:bodyPr wrap="square">
            <a:spAutoFit/>
          </a:bodyPr>
          <a:lstStyle/>
          <a:p>
            <a:pPr>
              <a:defRPr sz="1400" b="1">
                <a:solidFill>
                  <a:srgbClr val="0F172A"/>
                </a:solidFill>
              </a:defRPr>
            </a:pPr>
            <a:r>
              <a:t>4. SERVING &amp; ML UI</a:t>
            </a:r>
          </a:p>
          <a:p>
            <a:br/>
            <a:pPr>
              <a:defRPr sz="1100">
                <a:solidFill>
                  <a:srgbClr val="0F172A"/>
                </a:solidFill>
              </a:defRPr>
            </a:pPr>
            <a:r>
              <a:t>Phase 4, 5 &amp; 6 Serving</a:t>
            </a:r>
            <a:br/>
            <a:r>
              <a:t>• ML Risk Classifier (ML3)</a:t>
            </a:r>
            <a:br/>
            <a:r>
              <a:t>• Batch Scorer (ML6)</a:t>
            </a:r>
            <a:br/>
            <a:r>
              <a:t>• FastAPI REST Routers</a:t>
            </a:r>
            <a:br/>
            <a:r>
              <a:t>• React 19 Operations UI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EA5E9"/>
                </a:solidFill>
              </a:defRPr>
            </a:pPr>
            <a:r>
              <a:t>NETWORK OPERATIONS PREDICTIVE INTELLIGENCE</a:t>
            </a:r>
          </a:p>
          <a:p>
            <a:pPr>
              <a:defRPr sz="2200" b="1">
                <a:solidFill>
                  <a:srgbClr val="FFFFFF"/>
                </a:solidFill>
              </a:defRPr>
            </a:pPr>
            <a:r>
              <a:t>3. Dataset Scope, Spatial Grid &amp; Data Contract</a:t>
            </a:r>
          </a:p>
        </p:txBody>
      </p:sp>
      <p:sp>
        <p:nvSpPr>
          <p:cNvPr id="3" name="Rectangle 2"/>
          <p:cNvSpPr/>
          <p:nvPr/>
        </p:nvSpPr>
        <p:spPr>
          <a:xfrm>
            <a:off x="0" y="1005840"/>
            <a:ext cx="12191695" cy="54864"/>
          </a:xfrm>
          <a:prstGeom prst="rect">
            <a:avLst/>
          </a:prstGeom>
          <a:solidFill>
            <a:srgbClr val="0EA5E9"/>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371600"/>
            <a:ext cx="512064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4754880" cy="4572000"/>
          </a:xfrm>
          <a:prstGeom prst="rect">
            <a:avLst/>
          </a:prstGeom>
          <a:noFill/>
        </p:spPr>
        <p:txBody>
          <a:bodyPr wrap="square">
            <a:spAutoFit/>
          </a:bodyPr>
          <a:lstStyle/>
          <a:p>
            <a:pPr>
              <a:defRPr sz="1800" b="1">
                <a:solidFill>
                  <a:srgbClr val="0EA5E9"/>
                </a:solidFill>
              </a:defRPr>
            </a:pPr>
            <a:r>
              <a:t>📍 Milano Spatial Grid Reference</a:t>
            </a:r>
          </a:p>
          <a:p>
            <a:pPr>
              <a:defRPr b="1" sz="1200">
                <a:solidFill>
                  <a:srgbClr val="0F172A"/>
                </a:solidFill>
              </a:defRPr>
            </a:pPr>
            <a:br/>
            <a:r>
              <a:t>• Grid Resolution: 10,000 spatial cells (Grid ID: 1 to 10,000) overlaying the city of Milan, Italy.</a:t>
            </a:r>
          </a:p>
          <a:p>
            <a:pPr>
              <a:defRPr b="1" sz="1200">
                <a:solidFill>
                  <a:srgbClr val="0F172A"/>
                </a:solidFill>
              </a:defRPr>
            </a:pPr>
            <a:br/>
            <a:r>
              <a:t>• Cell Dimensions: Each cell measures 235 meters x 235 meters (~0.055 km² per grid).</a:t>
            </a:r>
          </a:p>
          <a:p>
            <a:pPr>
              <a:defRPr b="1" sz="1200">
                <a:solidFill>
                  <a:srgbClr val="0F172A"/>
                </a:solidFill>
              </a:defRPr>
            </a:pPr>
            <a:br/>
            <a:r>
              <a:t>• Coordinate Projection: WGS 84 (EPSG:4326) bounding box &amp; GeoJSON polygon coordinates.</a:t>
            </a:r>
          </a:p>
          <a:p>
            <a:pPr>
              <a:defRPr b="1" sz="1200">
                <a:solidFill>
                  <a:srgbClr val="0F172A"/>
                </a:solidFill>
              </a:defRPr>
            </a:pPr>
            <a:br/>
            <a:r>
              <a:t>• Time Window: Multi-day CDR telemetry captured in 10-minute interval buckets aggregated to hourly &amp; daily metrics.</a:t>
            </a:r>
          </a:p>
        </p:txBody>
      </p:sp>
      <p:sp>
        <p:nvSpPr>
          <p:cNvPr id="6" name="Rounded Rectangle 5"/>
          <p:cNvSpPr/>
          <p:nvPr/>
        </p:nvSpPr>
        <p:spPr>
          <a:xfrm>
            <a:off x="6217920" y="1371600"/>
            <a:ext cx="521208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554480"/>
            <a:ext cx="4846320" cy="4572000"/>
          </a:xfrm>
          <a:prstGeom prst="rect">
            <a:avLst/>
          </a:prstGeom>
          <a:noFill/>
        </p:spPr>
        <p:txBody>
          <a:bodyPr wrap="square">
            <a:spAutoFit/>
          </a:bodyPr>
          <a:lstStyle/>
          <a:p>
            <a:pPr>
              <a:defRPr sz="1800" b="1">
                <a:solidFill>
                  <a:srgbClr val="0F172A"/>
                </a:solidFill>
              </a:defRPr>
            </a:pPr>
            <a:r>
              <a:t>📄 Telemetry Data Schema &amp; Contract</a:t>
            </a:r>
          </a:p>
          <a:p>
            <a:pPr>
              <a:defRPr b="1" sz="1100">
                <a:solidFill>
                  <a:srgbClr val="1E3A8A"/>
                </a:solidFill>
              </a:defRPr>
            </a:pPr>
            <a:r>
              <a:t>• Square ID (grid_id) (Integer): Grid cell identifier (1 - 10000)</a:t>
            </a:r>
          </a:p>
          <a:p>
            <a:pPr>
              <a:defRPr b="1" sz="1100">
                <a:solidFill>
                  <a:srgbClr val="1E3A8A"/>
                </a:solidFill>
              </a:defRPr>
            </a:pPr>
            <a:r>
              <a:t>• Time Interval (time_interval) (BigInt): Unix epoch timestamp in milliseconds</a:t>
            </a:r>
          </a:p>
          <a:p>
            <a:pPr>
              <a:defRPr b="1" sz="1100">
                <a:solidFill>
                  <a:srgbClr val="1E3A8A"/>
                </a:solidFill>
              </a:defRPr>
            </a:pPr>
            <a:r>
              <a:t>• Country Code (country_code) (Integer): International calling country prefix</a:t>
            </a:r>
          </a:p>
          <a:p>
            <a:pPr>
              <a:defRPr b="1" sz="1100">
                <a:solidFill>
                  <a:srgbClr val="1E3A8A"/>
                </a:solidFill>
              </a:defRPr>
            </a:pPr>
            <a:r>
              <a:t>• SMS In Activity (sms_in) (Double): Normalized volume of incoming SMS</a:t>
            </a:r>
          </a:p>
          <a:p>
            <a:pPr>
              <a:defRPr b="1" sz="1100">
                <a:solidFill>
                  <a:srgbClr val="1E3A8A"/>
                </a:solidFill>
              </a:defRPr>
            </a:pPr>
            <a:r>
              <a:t>• SMS Out Activity (sms_out) (Double): Normalized volume of outgoing SMS</a:t>
            </a:r>
          </a:p>
          <a:p>
            <a:pPr>
              <a:defRPr b="1" sz="1100">
                <a:solidFill>
                  <a:srgbClr val="1E3A8A"/>
                </a:solidFill>
              </a:defRPr>
            </a:pPr>
            <a:r>
              <a:t>• Call In Activity (call_in) (Double): Normalized volume of incoming phone calls</a:t>
            </a:r>
          </a:p>
          <a:p>
            <a:pPr>
              <a:defRPr b="1" sz="1100">
                <a:solidFill>
                  <a:srgbClr val="1E3A8A"/>
                </a:solidFill>
              </a:defRPr>
            </a:pPr>
            <a:r>
              <a:t>• Call Out Activity (call_out) (Double): Normalized volume of outgoing phone calls</a:t>
            </a:r>
          </a:p>
          <a:p>
            <a:pPr>
              <a:defRPr b="1" sz="1100">
                <a:solidFill>
                  <a:srgbClr val="1E3A8A"/>
                </a:solidFill>
              </a:defRPr>
            </a:pPr>
            <a:r>
              <a:t>• Internet Activity (internet) (Double): Normalized data transfer volume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EA5E9"/>
                </a:solidFill>
              </a:defRPr>
            </a:pPr>
            <a:r>
              <a:t>NETWORK OPERATIONS PREDICTIVE INTELLIGENCE</a:t>
            </a:r>
          </a:p>
          <a:p>
            <a:pPr>
              <a:defRPr sz="2200" b="1">
                <a:solidFill>
                  <a:srgbClr val="FFFFFF"/>
                </a:solidFill>
              </a:defRPr>
            </a:pPr>
            <a:r>
              <a:t>4. Phase 1 — Core Python Ingestion, Profiling &amp; Alerting</a:t>
            </a:r>
          </a:p>
        </p:txBody>
      </p:sp>
      <p:sp>
        <p:nvSpPr>
          <p:cNvPr id="3" name="Rectangle 2"/>
          <p:cNvSpPr/>
          <p:nvPr/>
        </p:nvSpPr>
        <p:spPr>
          <a:xfrm>
            <a:off x="0" y="1005840"/>
            <a:ext cx="12191695" cy="54864"/>
          </a:xfrm>
          <a:prstGeom prst="rect">
            <a:avLst/>
          </a:prstGeom>
          <a:solidFill>
            <a:srgbClr val="0EA5E9"/>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371600"/>
            <a:ext cx="329184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554480"/>
            <a:ext cx="3017520" cy="4572000"/>
          </a:xfrm>
          <a:prstGeom prst="rect">
            <a:avLst/>
          </a:prstGeom>
          <a:noFill/>
        </p:spPr>
        <p:txBody>
          <a:bodyPr wrap="square">
            <a:spAutoFit/>
          </a:bodyPr>
          <a:lstStyle/>
          <a:p>
            <a:pPr>
              <a:defRPr sz="1600" b="1">
                <a:solidFill>
                  <a:srgbClr val="0EA5E9"/>
                </a:solidFill>
              </a:defRPr>
            </a:pPr>
            <a:r>
              <a:t>NP1: Dataset Profiler</a:t>
            </a:r>
          </a:p>
          <a:p>
            <a:pPr>
              <a:defRPr sz="1100" b="1">
                <a:solidFill>
                  <a:srgbClr val="64748B"/>
                </a:solidFill>
              </a:defRPr>
            </a:pPr>
            <a:r>
              <a:t>File: data_profiler.py</a:t>
            </a:r>
          </a:p>
          <a:p>
            <a:br/>
            <a:pPr>
              <a:defRPr sz="1100">
                <a:solidFill>
                  <a:srgbClr val="0F172A"/>
                </a:solidFill>
              </a:defRPr>
            </a:pPr>
            <a:r>
              <a:t>• Validates file accessibility &amp; CSV row counts</a:t>
            </a:r>
          </a:p>
          <a:p>
            <a:br/>
            <a:pPr>
              <a:defRPr sz="1100">
                <a:solidFill>
                  <a:srgbClr val="0F172A"/>
                </a:solidFill>
              </a:defRPr>
            </a:pPr>
            <a:r>
              <a:t>• Scans for nulls, data types, and corrupt timestamps</a:t>
            </a:r>
          </a:p>
          <a:p>
            <a:br/>
            <a:pPr>
              <a:defRPr sz="1100">
                <a:solidFill>
                  <a:srgbClr val="0F172A"/>
                </a:solidFill>
              </a:defRPr>
            </a:pPr>
            <a:r>
              <a:t>• Computes baseline summary statistics across SMS, Call, and Internet features</a:t>
            </a:r>
          </a:p>
          <a:p>
            <a:br/>
            <a:pPr>
              <a:defRPr sz="1100">
                <a:solidFill>
                  <a:srgbClr val="0F172A"/>
                </a:solidFill>
              </a:defRPr>
            </a:pPr>
            <a:r>
              <a:t>• Outputs structural dataset assessment before ETL load</a:t>
            </a:r>
          </a:p>
        </p:txBody>
      </p:sp>
      <p:sp>
        <p:nvSpPr>
          <p:cNvPr id="6" name="Rounded Rectangle 5"/>
          <p:cNvSpPr/>
          <p:nvPr/>
        </p:nvSpPr>
        <p:spPr>
          <a:xfrm>
            <a:off x="4389120" y="1371600"/>
            <a:ext cx="329184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26280" y="1554480"/>
            <a:ext cx="3017520" cy="4572000"/>
          </a:xfrm>
          <a:prstGeom prst="rect">
            <a:avLst/>
          </a:prstGeom>
          <a:noFill/>
        </p:spPr>
        <p:txBody>
          <a:bodyPr wrap="square">
            <a:spAutoFit/>
          </a:bodyPr>
          <a:lstStyle/>
          <a:p>
            <a:pPr>
              <a:defRPr sz="1600" b="1">
                <a:solidFill>
                  <a:srgbClr val="0EA5E9"/>
                </a:solidFill>
              </a:defRPr>
            </a:pPr>
            <a:r>
              <a:t>NP2: Usage Processor</a:t>
            </a:r>
          </a:p>
          <a:p>
            <a:pPr>
              <a:defRPr sz="1100" b="1">
                <a:solidFill>
                  <a:srgbClr val="64748B"/>
                </a:solidFill>
              </a:defRPr>
            </a:pPr>
            <a:r>
              <a:t>File: usage_processor.py</a:t>
            </a:r>
          </a:p>
          <a:p>
            <a:br/>
            <a:pPr>
              <a:defRPr sz="1100">
                <a:solidFill>
                  <a:srgbClr val="0F172A"/>
                </a:solidFill>
              </a:defRPr>
            </a:pPr>
            <a:r>
              <a:t>• Implements UsageProcessor class for single-file &amp; directory processing</a:t>
            </a:r>
          </a:p>
          <a:p>
            <a:br/>
            <a:pPr>
              <a:defRPr sz="1100">
                <a:solidFill>
                  <a:srgbClr val="0F172A"/>
                </a:solidFill>
              </a:defRPr>
            </a:pPr>
            <a:r>
              <a:t>• Aggregates 10-minute CDRs into hourly grid metrics</a:t>
            </a:r>
          </a:p>
          <a:p>
            <a:br/>
            <a:pPr>
              <a:defRPr sz="1100">
                <a:solidFill>
                  <a:srgbClr val="0F172A"/>
                </a:solidFill>
              </a:defRPr>
            </a:pPr>
            <a:r>
              <a:t>• Calculates total_activity = sms_in + sms_out + call_in + call_out + internet</a:t>
            </a:r>
          </a:p>
          <a:p>
            <a:br/>
            <a:pPr>
              <a:defRPr sz="1100">
                <a:solidFill>
                  <a:srgbClr val="0F172A"/>
                </a:solidFill>
              </a:defRPr>
            </a:pPr>
            <a:r>
              <a:t>• Generates daily activity rankings &amp; grid summary metrics</a:t>
            </a:r>
          </a:p>
        </p:txBody>
      </p:sp>
      <p:sp>
        <p:nvSpPr>
          <p:cNvPr id="8" name="Rounded Rectangle 7"/>
          <p:cNvSpPr/>
          <p:nvPr/>
        </p:nvSpPr>
        <p:spPr>
          <a:xfrm>
            <a:off x="8046720" y="1371600"/>
            <a:ext cx="338328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83880" y="1554480"/>
            <a:ext cx="3108960" cy="4572000"/>
          </a:xfrm>
          <a:prstGeom prst="rect">
            <a:avLst/>
          </a:prstGeom>
          <a:noFill/>
        </p:spPr>
        <p:txBody>
          <a:bodyPr wrap="square">
            <a:spAutoFit/>
          </a:bodyPr>
          <a:lstStyle/>
          <a:p>
            <a:pPr>
              <a:defRPr sz="1600" b="1">
                <a:solidFill>
                  <a:srgbClr val="0EA5E9"/>
                </a:solidFill>
              </a:defRPr>
            </a:pPr>
            <a:r>
              <a:t>NP3: Alert Detector</a:t>
            </a:r>
          </a:p>
          <a:p>
            <a:pPr>
              <a:defRPr sz="1100" b="1">
                <a:solidFill>
                  <a:srgbClr val="64748B"/>
                </a:solidFill>
              </a:defRPr>
            </a:pPr>
            <a:r>
              <a:t>File: alert_detector.py</a:t>
            </a:r>
          </a:p>
          <a:p>
            <a:br/>
            <a:pPr>
              <a:defRPr sz="1100">
                <a:solidFill>
                  <a:srgbClr val="0F172A"/>
                </a:solidFill>
              </a:defRPr>
            </a:pPr>
            <a:r>
              <a:t>• NetworkAlertGenerator rule engine</a:t>
            </a:r>
          </a:p>
          <a:p>
            <a:br/>
            <a:pPr>
              <a:defRPr sz="1100">
                <a:solidFill>
                  <a:srgbClr val="0F172A"/>
                </a:solidFill>
              </a:defRPr>
            </a:pPr>
            <a:r>
              <a:t>• Dynamic threshold calculation: mean + (k * std_dev)</a:t>
            </a:r>
          </a:p>
          <a:p>
            <a:br/>
            <a:pPr>
              <a:defRPr sz="1100">
                <a:solidFill>
                  <a:srgbClr val="0F172A"/>
                </a:solidFill>
              </a:defRPr>
            </a:pPr>
            <a:r>
              <a:t>• Generates HOTSPOT, HIGH_TRAFFIC, and ANOMALY severity flags</a:t>
            </a:r>
          </a:p>
          <a:p>
            <a:br/>
            <a:pPr>
              <a:defRPr sz="1100">
                <a:solidFill>
                  <a:srgbClr val="0F172A"/>
                </a:solidFill>
              </a:defRPr>
            </a:pPr>
            <a:r>
              <a:t>• Formats structured alert payloads for REST API consumption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EA5E9"/>
                </a:solidFill>
              </a:defRPr>
            </a:pPr>
            <a:r>
              <a:t>NETWORK OPERATIONS PREDICTIVE INTELLIGENCE</a:t>
            </a:r>
          </a:p>
          <a:p>
            <a:pPr>
              <a:defRPr sz="2200" b="1">
                <a:solidFill>
                  <a:srgbClr val="FFFFFF"/>
                </a:solidFill>
              </a:defRPr>
            </a:pPr>
            <a:r>
              <a:t>5. Phase 2 — PySpark Distributed ETL Pipeline (SP1-SP7)</a:t>
            </a:r>
          </a:p>
        </p:txBody>
      </p:sp>
      <p:sp>
        <p:nvSpPr>
          <p:cNvPr id="3" name="Rectangle 2"/>
          <p:cNvSpPr/>
          <p:nvPr/>
        </p:nvSpPr>
        <p:spPr>
          <a:xfrm>
            <a:off x="0" y="1005840"/>
            <a:ext cx="12191695" cy="54864"/>
          </a:xfrm>
          <a:prstGeom prst="rect">
            <a:avLst/>
          </a:prstGeom>
          <a:solidFill>
            <a:srgbClr val="0EA5E9"/>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371600"/>
            <a:ext cx="685800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6492240" cy="4572000"/>
          </a:xfrm>
          <a:prstGeom prst="rect">
            <a:avLst/>
          </a:prstGeom>
          <a:noFill/>
        </p:spPr>
        <p:txBody>
          <a:bodyPr wrap="square">
            <a:spAutoFit/>
          </a:bodyPr>
          <a:lstStyle/>
          <a:p>
            <a:pPr>
              <a:defRPr sz="1600" b="1">
                <a:solidFill>
                  <a:srgbClr val="0F172A"/>
                </a:solidFill>
              </a:defRPr>
            </a:pPr>
            <a:r>
              <a:t>⚡ PySpark ETL Modules &amp; Pipeline Responsibilities</a:t>
            </a:r>
          </a:p>
          <a:p>
            <a:pPr>
              <a:defRPr b="1" sz="1100">
                <a:solidFill>
                  <a:srgbClr val="0EA5E9"/>
                </a:solidFill>
              </a:defRPr>
            </a:pPr>
            <a:r>
              <a:t>• SP1 Ingestion: Parallel load of 4.1GB raw CSV files into Spark DataFrames with explicit schemas.</a:t>
            </a:r>
          </a:p>
          <a:p>
            <a:pPr>
              <a:defRPr b="1" sz="1100">
                <a:solidFill>
                  <a:srgbClr val="0EA5E9"/>
                </a:solidFill>
              </a:defRPr>
            </a:pPr>
            <a:r>
              <a:t>• SP2 Cleaning: Filters invalid grid IDs, negative activity, null timestamps. Rejects routing to rejected_records.</a:t>
            </a:r>
          </a:p>
          <a:p>
            <a:pPr>
              <a:defRPr b="1" sz="1100">
                <a:solidFill>
                  <a:srgbClr val="0EA5E9"/>
                </a:solidFill>
              </a:defRPr>
            </a:pPr>
            <a:r>
              <a:t>• SP3 Aggregation: PySpark groupBy(grid_id, hour) computing aggregated sum &amp; average traffic metrics.</a:t>
            </a:r>
          </a:p>
          <a:p>
            <a:pPr>
              <a:defRPr b="1" sz="1100">
                <a:solidFill>
                  <a:srgbClr val="0EA5E9"/>
                </a:solidFill>
              </a:defRPr>
            </a:pPr>
            <a:r>
              <a:t>• SP4 Geo Enrichment: Broadcast join with Milan GeoJSON grid polygons to append centroid lat/lon and boundaries.</a:t>
            </a:r>
          </a:p>
          <a:p>
            <a:pPr>
              <a:defRPr b="1" sz="1100">
                <a:solidFill>
                  <a:srgbClr val="0EA5E9"/>
                </a:solidFill>
              </a:defRPr>
            </a:pPr>
            <a:r>
              <a:t>• SP5 Performance: Coalesce &amp; partition optimization; resolves memory spills &amp; Windows Hadoop winutils execution.</a:t>
            </a:r>
          </a:p>
          <a:p>
            <a:pPr>
              <a:defRPr b="1" sz="1100">
                <a:solidFill>
                  <a:srgbClr val="0EA5E9"/>
                </a:solidFill>
              </a:defRPr>
            </a:pPr>
            <a:r>
              <a:t>• SP6 Storage: Writes cleaned analytics tables to Snappy-compressed Parquet files organized by date partitions.</a:t>
            </a:r>
          </a:p>
          <a:p>
            <a:pPr>
              <a:defRPr b="1" sz="1100">
                <a:solidFill>
                  <a:srgbClr val="0EA5E9"/>
                </a:solidFill>
              </a:defRPr>
            </a:pPr>
            <a:r>
              <a:t>• SP7 Master Pipeline: Production-grade spark/telecom_pipeline.py executing end-to-end distributed workflow.</a:t>
            </a:r>
          </a:p>
        </p:txBody>
      </p:sp>
      <p:sp>
        <p:nvSpPr>
          <p:cNvPr id="6" name="Rounded Rectangle 5"/>
          <p:cNvSpPr/>
          <p:nvPr/>
        </p:nvSpPr>
        <p:spPr>
          <a:xfrm>
            <a:off x="7863840" y="1371600"/>
            <a:ext cx="3566160" cy="4937760"/>
          </a:xfrm>
          <a:prstGeom prst="roundRect">
            <a:avLst/>
          </a:prstGeom>
          <a:solidFill>
            <a:srgbClr val="1E3A8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0" y="1554480"/>
            <a:ext cx="3200400" cy="4572000"/>
          </a:xfrm>
          <a:prstGeom prst="rect">
            <a:avLst/>
          </a:prstGeom>
          <a:noFill/>
        </p:spPr>
        <p:txBody>
          <a:bodyPr wrap="square">
            <a:spAutoFit/>
          </a:bodyPr>
          <a:lstStyle/>
          <a:p>
            <a:pPr>
              <a:defRPr sz="1600" b="1">
                <a:solidFill>
                  <a:srgbClr val="10B981"/>
                </a:solidFill>
              </a:defRPr>
            </a:pPr>
            <a:r>
              <a:t>🚀 SP7 Master Pipeline</a:t>
            </a:r>
          </a:p>
          <a:p>
            <a:br/>
            <a:pPr>
              <a:defRPr sz="1100">
                <a:solidFill>
                  <a:srgbClr val="FFFFFF"/>
                </a:solidFill>
              </a:defRPr>
            </a:pPr>
            <a:r>
              <a:t>✔ Distributed Spark Session</a:t>
            </a:r>
          </a:p>
          <a:p>
            <a:br/>
            <a:pPr>
              <a:defRPr sz="1100">
                <a:solidFill>
                  <a:srgbClr val="FFFFFF"/>
                </a:solidFill>
              </a:defRPr>
            </a:pPr>
            <a:r>
              <a:t>✔ Broadcast Join Spatial Optimizations</a:t>
            </a:r>
          </a:p>
          <a:p>
            <a:br/>
            <a:pPr>
              <a:defRPr sz="1100">
                <a:solidFill>
                  <a:srgbClr val="FFFFFF"/>
                </a:solidFill>
              </a:defRPr>
            </a:pPr>
            <a:r>
              <a:t>✔ Sanitizes 100% of Invalid Records</a:t>
            </a:r>
          </a:p>
          <a:p>
            <a:br/>
            <a:pPr>
              <a:defRPr sz="1100">
                <a:solidFill>
                  <a:srgbClr val="FFFFFF"/>
                </a:solidFill>
              </a:defRPr>
            </a:pPr>
            <a:r>
              <a:t>✔ Outputs Cleaned Parquet &amp; CSV Analytics Summaries</a:t>
            </a:r>
          </a:p>
          <a:p>
            <a:br/>
            <a:pPr>
              <a:defRPr sz="1100">
                <a:solidFill>
                  <a:srgbClr val="FFFFFF"/>
                </a:solidFill>
              </a:defRPr>
            </a:pPr>
            <a:r>
              <a:t>✔ Zero Memory Leaks in Large Batch Runs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EA5E9"/>
                </a:solidFill>
              </a:defRPr>
            </a:pPr>
            <a:r>
              <a:t>NETWORK OPERATIONS PREDICTIVE INTELLIGENCE</a:t>
            </a:r>
          </a:p>
          <a:p>
            <a:pPr>
              <a:defRPr sz="2200" b="1">
                <a:solidFill>
                  <a:srgbClr val="FFFFFF"/>
                </a:solidFill>
              </a:defRPr>
            </a:pPr>
            <a:r>
              <a:t>6. PySpark Data Flow &amp; Spatial Enrichment Architecture</a:t>
            </a:r>
          </a:p>
        </p:txBody>
      </p:sp>
      <p:sp>
        <p:nvSpPr>
          <p:cNvPr id="3" name="Rectangle 2"/>
          <p:cNvSpPr/>
          <p:nvPr/>
        </p:nvSpPr>
        <p:spPr>
          <a:xfrm>
            <a:off x="0" y="1005840"/>
            <a:ext cx="12191695" cy="54864"/>
          </a:xfrm>
          <a:prstGeom prst="rect">
            <a:avLst/>
          </a:prstGeom>
          <a:solidFill>
            <a:srgbClr val="0EA5E9"/>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371600"/>
            <a:ext cx="10698480" cy="4937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10332720" cy="4572000"/>
          </a:xfrm>
          <a:prstGeom prst="rect">
            <a:avLst/>
          </a:prstGeom>
          <a:noFill/>
        </p:spPr>
        <p:txBody>
          <a:bodyPr wrap="square">
            <a:spAutoFit/>
          </a:bodyPr>
          <a:lstStyle/>
          <a:p>
            <a:pPr>
              <a:defRPr sz="1800" b="1">
                <a:solidFill>
                  <a:srgbClr val="0F172A"/>
                </a:solidFill>
              </a:defRPr>
            </a:pPr>
            <a:r>
              <a:t>🔄 Spark ETL Data Transformation Flow Diagram</a:t>
            </a:r>
          </a:p>
        </p:txBody>
      </p:sp>
      <p:sp>
        <p:nvSpPr>
          <p:cNvPr id="6" name="Rounded Rectangle 5"/>
          <p:cNvSpPr/>
          <p:nvPr/>
        </p:nvSpPr>
        <p:spPr>
          <a:xfrm>
            <a:off x="1097280" y="2468880"/>
            <a:ext cx="2194560" cy="1463040"/>
          </a:xfrm>
          <a:prstGeom prst="roundRect">
            <a:avLst/>
          </a:prstGeom>
          <a:solidFill>
            <a:srgbClr val="0EA5E9"/>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[Raw Telecom CSVs]</a:t>
            </a:r>
            <a:br/>
            <a:r>
              <a:t>Multi-day CDR Telemetry</a:t>
            </a:r>
          </a:p>
        </p:txBody>
      </p:sp>
      <p:sp>
        <p:nvSpPr>
          <p:cNvPr id="7" name="Rounded Rectangle 6"/>
          <p:cNvSpPr/>
          <p:nvPr/>
        </p:nvSpPr>
        <p:spPr>
          <a:xfrm>
            <a:off x="3657600" y="2468880"/>
            <a:ext cx="2194560" cy="1463040"/>
          </a:xfrm>
          <a:prstGeom prst="round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[SP2 Spark Clean]</a:t>
            </a:r>
            <a:br/>
            <a:r>
              <a:t>Remove Nulls &amp; Negatives</a:t>
            </a:r>
          </a:p>
        </p:txBody>
      </p:sp>
      <p:sp>
        <p:nvSpPr>
          <p:cNvPr id="8" name="Rounded Rectangle 7"/>
          <p:cNvSpPr/>
          <p:nvPr/>
        </p:nvSpPr>
        <p:spPr>
          <a:xfrm>
            <a:off x="6217920" y="2468880"/>
            <a:ext cx="2194560" cy="1463040"/>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[SP3 Aggregation]</a:t>
            </a:r>
            <a:br/>
            <a:r>
              <a:t>Group by Grid + Hour</a:t>
            </a:r>
          </a:p>
        </p:txBody>
      </p:sp>
      <p:sp>
        <p:nvSpPr>
          <p:cNvPr id="9" name="Rounded Rectangle 8"/>
          <p:cNvSpPr/>
          <p:nvPr/>
        </p:nvSpPr>
        <p:spPr>
          <a:xfrm>
            <a:off x="8778240" y="2468880"/>
            <a:ext cx="2194560" cy="1463040"/>
          </a:xfrm>
          <a:prstGeom prst="round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[SP4 Geo Enrichment]</a:t>
            </a:r>
            <a:br/>
            <a:r>
              <a:t>Join GeoJSON Boundaries</a:t>
            </a:r>
          </a:p>
        </p:txBody>
      </p:sp>
      <p:sp>
        <p:nvSpPr>
          <p:cNvPr id="10" name="TextBox 9"/>
          <p:cNvSpPr txBox="1"/>
          <p:nvPr/>
        </p:nvSpPr>
        <p:spPr>
          <a:xfrm>
            <a:off x="1097280" y="4389120"/>
            <a:ext cx="9875520" cy="1645920"/>
          </a:xfrm>
          <a:prstGeom prst="rect">
            <a:avLst/>
          </a:prstGeom>
          <a:noFill/>
        </p:spPr>
        <p:txBody>
          <a:bodyPr wrap="square">
            <a:spAutoFit/>
          </a:bodyPr>
          <a:lstStyle/>
          <a:p>
            <a:pPr>
              <a:defRPr sz="1400" b="1">
                <a:solidFill>
                  <a:srgbClr val="0F172A"/>
                </a:solidFill>
              </a:defRPr>
            </a:pPr>
            <a:r>
              <a:t>Key Pipeline Architectural Optimizations:</a:t>
            </a:r>
          </a:p>
          <a:p>
            <a:pPr>
              <a:defRPr sz="1100">
                <a:solidFill>
                  <a:srgbClr val="0F172A"/>
                </a:solidFill>
              </a:defRPr>
            </a:pPr>
            <a:r>
              <a:t>1. Broadcast Hash Join: Italian_provinces.geojson polygon spatial dataset is broadcast to all Spark executor nodes, avoiding costly cross-network shuffles.</a:t>
            </a:r>
          </a:p>
          <a:p>
            <a:pPr>
              <a:defRPr sz="1100">
                <a:solidFill>
                  <a:srgbClr val="0F172A"/>
                </a:solidFill>
              </a:defRPr>
            </a:pPr>
            <a:r>
              <a:t>2. Partition Pruning: Parquet output is partitioned by date=YYYY-MM-DD, allowing downstream FastAPI and Airflow jobs to query specific days in milliseconds.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EA5E9"/>
                </a:solidFill>
              </a:defRPr>
            </a:pPr>
            <a:r>
              <a:t>NETWORK OPERATIONS PREDICTIVE INTELLIGENCE</a:t>
            </a:r>
          </a:p>
          <a:p>
            <a:pPr>
              <a:defRPr sz="2200" b="1">
                <a:solidFill>
                  <a:srgbClr val="FFFFFF"/>
                </a:solidFill>
              </a:defRPr>
            </a:pPr>
            <a:r>
              <a:t>7. Phase 3 — Data Warehouse &amp; Airflow Orchestration (DE1-DE7)</a:t>
            </a:r>
          </a:p>
        </p:txBody>
      </p:sp>
      <p:sp>
        <p:nvSpPr>
          <p:cNvPr id="3" name="Rectangle 2"/>
          <p:cNvSpPr/>
          <p:nvPr/>
        </p:nvSpPr>
        <p:spPr>
          <a:xfrm>
            <a:off x="0" y="1005840"/>
            <a:ext cx="12191695" cy="54864"/>
          </a:xfrm>
          <a:prstGeom prst="rect">
            <a:avLst/>
          </a:prstGeom>
          <a:solidFill>
            <a:srgbClr val="0EA5E9"/>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371600"/>
            <a:ext cx="512064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4754880" cy="4572000"/>
          </a:xfrm>
          <a:prstGeom prst="rect">
            <a:avLst/>
          </a:prstGeom>
          <a:noFill/>
        </p:spPr>
        <p:txBody>
          <a:bodyPr wrap="square">
            <a:spAutoFit/>
          </a:bodyPr>
          <a:lstStyle/>
          <a:p>
            <a:pPr>
              <a:defRPr sz="1600" b="1">
                <a:solidFill>
                  <a:srgbClr val="0EA5E9"/>
                </a:solidFill>
              </a:defRPr>
            </a:pPr>
            <a:r>
              <a:t>🗄️ MySQL Analytics Warehouse Schema</a:t>
            </a:r>
          </a:p>
          <a:p>
            <a:pPr>
              <a:defRPr b="1" sz="1100">
                <a:solidFill>
                  <a:srgbClr val="0F172A"/>
                </a:solidFill>
              </a:defRPr>
            </a:pPr>
            <a:br/>
            <a:r>
              <a:t>• Fact Table: fact_hourly_grid_activity: Stores aggregated traffic (sms, call, internet, total_activity) per grid cell per hour.</a:t>
            </a:r>
          </a:p>
          <a:p>
            <a:pPr>
              <a:defRPr b="1" sz="1100">
                <a:solidFill>
                  <a:srgbClr val="0F172A"/>
                </a:solidFill>
              </a:defRPr>
            </a:pPr>
            <a:br/>
            <a:r>
              <a:t>• Dimension: dim_milan_grid: Holds spatial polygons, cell centroid lat/lon, province mappings, and grid classifications.</a:t>
            </a:r>
          </a:p>
          <a:p>
            <a:pPr>
              <a:defRPr b="1" sz="1100">
                <a:solidFill>
                  <a:srgbClr val="0F172A"/>
                </a:solidFill>
              </a:defRPr>
            </a:pPr>
            <a:br/>
            <a:r>
              <a:t>• Dimension: dim_time: Hour, day of week, peak/off-peak flag, weekend indicator for temporal slicing.</a:t>
            </a:r>
          </a:p>
          <a:p>
            <a:pPr>
              <a:defRPr b="1" sz="1100">
                <a:solidFill>
                  <a:srgbClr val="0F172A"/>
                </a:solidFill>
              </a:defRPr>
            </a:pPr>
            <a:br/>
            <a:r>
              <a:t>• ML Feature Table: ml_grid_features: Precomputed rolling window metrics, activity deltas, and risk labels.</a:t>
            </a:r>
          </a:p>
        </p:txBody>
      </p:sp>
      <p:sp>
        <p:nvSpPr>
          <p:cNvPr id="6" name="Rounded Rectangle 5"/>
          <p:cNvSpPr/>
          <p:nvPr/>
        </p:nvSpPr>
        <p:spPr>
          <a:xfrm>
            <a:off x="6217920" y="1371600"/>
            <a:ext cx="521208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554480"/>
            <a:ext cx="4846320" cy="4572000"/>
          </a:xfrm>
          <a:prstGeom prst="rect">
            <a:avLst/>
          </a:prstGeom>
          <a:noFill/>
        </p:spPr>
        <p:txBody>
          <a:bodyPr wrap="square">
            <a:spAutoFit/>
          </a:bodyPr>
          <a:lstStyle/>
          <a:p>
            <a:pPr>
              <a:defRPr sz="1600" b="1">
                <a:solidFill>
                  <a:srgbClr val="10B981"/>
                </a:solidFill>
              </a:defRPr>
            </a:pPr>
            <a:r>
              <a:t>⚙️ Airflow Pipeline Orchestration (de7_end_to_end_dag)</a:t>
            </a:r>
          </a:p>
          <a:p>
            <a:pPr>
              <a:defRPr b="1" sz="1100">
                <a:solidFill>
                  <a:srgbClr val="0F172A"/>
                </a:solidFill>
              </a:defRPr>
            </a:pPr>
            <a:br/>
            <a:r>
              <a:t>• DAG Execution Graph: check_raw_data -&gt; run_sp7_spark_etl -&gt; load_warehouse -&gt; generate_ml_features -&gt; score_grid_risk -&gt; verify_pipeline</a:t>
            </a:r>
          </a:p>
          <a:p>
            <a:pPr>
              <a:defRPr b="1" sz="1100">
                <a:solidFill>
                  <a:srgbClr val="0F172A"/>
                </a:solidFill>
              </a:defRPr>
            </a:pPr>
            <a:br/>
            <a:r>
              <a:t>• Automated Scheduling: Configured for daily/hourly batch runs with configurable SLA thresholds.</a:t>
            </a:r>
          </a:p>
          <a:p>
            <a:pPr>
              <a:defRPr b="1" sz="1100">
                <a:solidFill>
                  <a:srgbClr val="0F172A"/>
                </a:solidFill>
              </a:defRPr>
            </a:pPr>
            <a:br/>
            <a:r>
              <a:t>• Error Recovery &amp; Logs: Automatic task retries, email/log alerts on step failure, atomic transaction boundaries.</a:t>
            </a:r>
          </a:p>
          <a:p>
            <a:pPr>
              <a:defRPr b="1" sz="1100">
                <a:solidFill>
                  <a:srgbClr val="0F172A"/>
                </a:solidFill>
              </a:defRPr>
            </a:pPr>
            <a:br/>
            <a:r>
              <a:t>• Warehouse Loader: phase3/de6/warehouse_loader.py streams processed Parquet output into MySQL dimension &amp; fact tables.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EA5E9"/>
                </a:solidFill>
              </a:defRPr>
            </a:pPr>
            <a:r>
              <a:t>NETWORK OPERATIONS PREDICTIVE INTELLIGENCE</a:t>
            </a:r>
          </a:p>
          <a:p>
            <a:pPr>
              <a:defRPr sz="2200" b="1">
                <a:solidFill>
                  <a:srgbClr val="FFFFFF"/>
                </a:solidFill>
              </a:defRPr>
            </a:pPr>
            <a:r>
              <a:t>8. Phase 4 — High-Performance FastAPI REST Backend</a:t>
            </a:r>
          </a:p>
        </p:txBody>
      </p:sp>
      <p:sp>
        <p:nvSpPr>
          <p:cNvPr id="3" name="Rectangle 2"/>
          <p:cNvSpPr/>
          <p:nvPr/>
        </p:nvSpPr>
        <p:spPr>
          <a:xfrm>
            <a:off x="0" y="1005840"/>
            <a:ext cx="12191695" cy="54864"/>
          </a:xfrm>
          <a:prstGeom prst="rect">
            <a:avLst/>
          </a:prstGeom>
          <a:solidFill>
            <a:srgbClr val="0EA5E9"/>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371600"/>
            <a:ext cx="594360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5577840" cy="4572000"/>
          </a:xfrm>
          <a:prstGeom prst="rect">
            <a:avLst/>
          </a:prstGeom>
          <a:noFill/>
        </p:spPr>
        <p:txBody>
          <a:bodyPr wrap="square">
            <a:spAutoFit/>
          </a:bodyPr>
          <a:lstStyle/>
          <a:p>
            <a:pPr>
              <a:defRPr sz="1600" b="1">
                <a:solidFill>
                  <a:srgbClr val="0F172A"/>
                </a:solidFill>
              </a:defRPr>
            </a:pPr>
            <a:r>
              <a:t>🌐 REST API Architecture &amp; Router Endpoints</a:t>
            </a:r>
          </a:p>
          <a:p>
            <a:pPr>
              <a:defRPr b="1" sz="1100">
                <a:solidFill>
                  <a:srgbClr val="0EA5E9"/>
                </a:solidFill>
              </a:defRPr>
            </a:pPr>
            <a:br/>
            <a:r>
              <a:t>• GET /api/network/summary: API1: Returns network total traffic, active grids, and peak hour stats.</a:t>
            </a:r>
          </a:p>
          <a:p>
            <a:pPr>
              <a:defRPr b="1" sz="1100">
                <a:solidFill>
                  <a:srgbClr val="0EA5E9"/>
                </a:solidFill>
              </a:defRPr>
            </a:pPr>
            <a:br/>
            <a:r>
              <a:t>• GET /api/network/grid/{grid_id}: API2: Hourly activity time-series &amp; metrics for a specific grid cell.</a:t>
            </a:r>
          </a:p>
          <a:p>
            <a:pPr>
              <a:defRPr b="1" sz="1100">
                <a:solidFill>
                  <a:srgbClr val="0EA5E9"/>
                </a:solidFill>
              </a:defRPr>
            </a:pPr>
            <a:br/>
            <a:r>
              <a:t>• GET /api/alerts/hotspots: API3/NP3: Dynamic alert detection returning active network hotspot warnings.</a:t>
            </a:r>
          </a:p>
          <a:p>
            <a:pPr>
              <a:defRPr b="1" sz="1100">
                <a:solidFill>
                  <a:srgbClr val="0EA5E9"/>
                </a:solidFill>
              </a:defRPr>
            </a:pPr>
            <a:br/>
            <a:r>
              <a:t>• GET /api/features/grid/{grid_id}: ML2: Returns engineered rolling window features for risk analysis.</a:t>
            </a:r>
          </a:p>
          <a:p>
            <a:pPr>
              <a:defRPr b="1" sz="1100">
                <a:solidFill>
                  <a:srgbClr val="0EA5E9"/>
                </a:solidFill>
              </a:defRPr>
            </a:pPr>
            <a:br/>
            <a:r>
              <a:t>• POST /api/predict/risk: ML3: Inference endpoint executing trained model to score grid risk level.</a:t>
            </a:r>
          </a:p>
        </p:txBody>
      </p:sp>
      <p:sp>
        <p:nvSpPr>
          <p:cNvPr id="6" name="Rounded Rectangle 5"/>
          <p:cNvSpPr/>
          <p:nvPr/>
        </p:nvSpPr>
        <p:spPr>
          <a:xfrm>
            <a:off x="6949440" y="1371600"/>
            <a:ext cx="448056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0" y="1554480"/>
            <a:ext cx="4114800" cy="4572000"/>
          </a:xfrm>
          <a:prstGeom prst="rect">
            <a:avLst/>
          </a:prstGeom>
          <a:noFill/>
        </p:spPr>
        <p:txBody>
          <a:bodyPr wrap="square">
            <a:spAutoFit/>
          </a:bodyPr>
          <a:lstStyle/>
          <a:p>
            <a:pPr>
              <a:defRPr sz="1600" b="1">
                <a:solidFill>
                  <a:srgbClr val="10B981"/>
                </a:solidFill>
              </a:defRPr>
            </a:pPr>
            <a:r>
              <a:t>🛠️ API Technical Implementation</a:t>
            </a:r>
          </a:p>
          <a:p>
            <a:pPr>
              <a:defRPr b="1" sz="1100">
                <a:solidFill>
                  <a:srgbClr val="0F172A"/>
                </a:solidFill>
              </a:defRPr>
            </a:pPr>
            <a:br/>
            <a:r>
              <a:t>• Asynchronous Handlers: Built on Uvicorn &amp; FastAPI async routes for high concurrent throughput.</a:t>
            </a:r>
          </a:p>
          <a:p>
            <a:pPr>
              <a:defRPr b="1" sz="1100">
                <a:solidFill>
                  <a:srgbClr val="0F172A"/>
                </a:solidFill>
              </a:defRPr>
            </a:pPr>
            <a:br/>
            <a:r>
              <a:t>• Pydantic Validation: Strict request/response contracts ensuring type safety across network &amp; ML schemas.</a:t>
            </a:r>
          </a:p>
          <a:p>
            <a:pPr>
              <a:defRPr b="1" sz="1100">
                <a:solidFill>
                  <a:srgbClr val="0F172A"/>
                </a:solidFill>
              </a:defRPr>
            </a:pPr>
            <a:br/>
            <a:r>
              <a:t>• SQLAlchemy ORM: Efficient DB session management querying MySQL warehouse fact/dim tables.</a:t>
            </a:r>
          </a:p>
          <a:p>
            <a:pPr>
              <a:defRPr b="1" sz="1100">
                <a:solidFill>
                  <a:srgbClr val="0F172A"/>
                </a:solidFill>
              </a:defRPr>
            </a:pPr>
            <a:br/>
            <a:r>
              <a:t>• CORS &amp; Service Decoupling: Configured CORS middleware enabling seamless React NOC dashboard integration.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EA5E9"/>
                </a:solidFill>
              </a:defRPr>
            </a:pPr>
            <a:r>
              <a:t>NETWORK OPERATIONS PREDICTIVE INTELLIGENCE</a:t>
            </a:r>
          </a:p>
          <a:p>
            <a:pPr>
              <a:defRPr sz="2200" b="1">
                <a:solidFill>
                  <a:srgbClr val="FFFFFF"/>
                </a:solidFill>
              </a:defRPr>
            </a:pPr>
            <a:r>
              <a:t>9. Phase 5 — React NOC Operations Control Room UI</a:t>
            </a:r>
          </a:p>
        </p:txBody>
      </p:sp>
      <p:sp>
        <p:nvSpPr>
          <p:cNvPr id="3" name="Rectangle 2"/>
          <p:cNvSpPr/>
          <p:nvPr/>
        </p:nvSpPr>
        <p:spPr>
          <a:xfrm>
            <a:off x="0" y="1005840"/>
            <a:ext cx="12191695" cy="54864"/>
          </a:xfrm>
          <a:prstGeom prst="rect">
            <a:avLst/>
          </a:prstGeom>
          <a:solidFill>
            <a:srgbClr val="0EA5E9"/>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371600"/>
            <a:ext cx="512064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4754880" cy="4572000"/>
          </a:xfrm>
          <a:prstGeom prst="rect">
            <a:avLst/>
          </a:prstGeom>
          <a:noFill/>
        </p:spPr>
        <p:txBody>
          <a:bodyPr wrap="square">
            <a:spAutoFit/>
          </a:bodyPr>
          <a:lstStyle/>
          <a:p>
            <a:pPr>
              <a:defRPr sz="1600" b="1">
                <a:solidFill>
                  <a:srgbClr val="0EA5E9"/>
                </a:solidFill>
              </a:defRPr>
            </a:pPr>
            <a:r>
              <a:t>🖥️ NOC Dashboard Features &amp; Pages</a:t>
            </a:r>
          </a:p>
          <a:p>
            <a:pPr>
              <a:defRPr b="1" sz="1100">
                <a:solidFill>
                  <a:srgbClr val="0F172A"/>
                </a:solidFill>
              </a:defRPr>
            </a:pPr>
            <a:br/>
            <a:r>
              <a:t>• Dashboard.jsx: Executive KPI cards (Active Grids, Total SMS/Calls/Internet, Alert Count) &amp; network trend charts.</a:t>
            </a:r>
          </a:p>
          <a:p>
            <a:pPr>
              <a:defRPr b="1" sz="1100">
                <a:solidFill>
                  <a:srgbClr val="0F172A"/>
                </a:solidFill>
              </a:defRPr>
            </a:pPr>
            <a:br/>
            <a:r>
              <a:t>• GridExplorer.jsx: Search &amp; inspect individual grid performance, historical telemetry charts, and traffic distribution.</a:t>
            </a:r>
          </a:p>
          <a:p>
            <a:pPr>
              <a:defRPr b="1" sz="1100">
                <a:solidFill>
                  <a:srgbClr val="0F172A"/>
                </a:solidFill>
              </a:defRPr>
            </a:pPr>
            <a:br/>
            <a:r>
              <a:t>• HotspotsAlerts.jsx: Live security &amp; anomaly feed highlighting critical grid spikes with severity filters.</a:t>
            </a:r>
          </a:p>
          <a:p>
            <a:pPr>
              <a:defRPr b="1" sz="1100">
                <a:solidFill>
                  <a:srgbClr val="0F172A"/>
                </a:solidFill>
              </a:defRPr>
            </a:pPr>
            <a:br/>
            <a:r>
              <a:t>• PredictiveRisk.jsx: ML risk scoring interface displaying predicted risk levels (LOW, MEDIUM, HIGH) per grid.</a:t>
            </a:r>
          </a:p>
        </p:txBody>
      </p:sp>
      <p:sp>
        <p:nvSpPr>
          <p:cNvPr id="6" name="Rounded Rectangle 5"/>
          <p:cNvSpPr/>
          <p:nvPr/>
        </p:nvSpPr>
        <p:spPr>
          <a:xfrm>
            <a:off x="6217920" y="1371600"/>
            <a:ext cx="521208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554480"/>
            <a:ext cx="4846320" cy="4572000"/>
          </a:xfrm>
          <a:prstGeom prst="rect">
            <a:avLst/>
          </a:prstGeom>
          <a:noFill/>
        </p:spPr>
        <p:txBody>
          <a:bodyPr wrap="square">
            <a:spAutoFit/>
          </a:bodyPr>
          <a:lstStyle/>
          <a:p>
            <a:pPr>
              <a:defRPr sz="1600" b="1">
                <a:solidFill>
                  <a:srgbClr val="0F172A"/>
                </a:solidFill>
              </a:defRPr>
            </a:pPr>
            <a:r>
              <a:t>🗺️ Interactive GIS Mapping &amp; Component Stack</a:t>
            </a:r>
          </a:p>
          <a:p>
            <a:pPr>
              <a:defRPr b="1" sz="1100">
                <a:solidFill>
                  <a:srgbClr val="0F172A"/>
                </a:solidFill>
              </a:defRPr>
            </a:pPr>
            <a:br/>
            <a:r>
              <a:t>• MilanGridMap.jsx: Leaflet GIS interactive grid overlay rendering 10,000 spatial polygons over Milan map.</a:t>
            </a:r>
          </a:p>
          <a:p>
            <a:pPr>
              <a:defRPr b="1" sz="1100">
                <a:solidFill>
                  <a:srgbClr val="0F172A"/>
                </a:solidFill>
              </a:defRPr>
            </a:pPr>
            <a:br/>
            <a:r>
              <a:t>• Dynamic Heatmap Overlay: Grid cells color-coded by traffic volume and risk level (Green = Normal, Yellow = Warning, Red = Critical).</a:t>
            </a:r>
          </a:p>
          <a:p>
            <a:pPr>
              <a:defRPr b="1" sz="1100">
                <a:solidFill>
                  <a:srgbClr val="0F172A"/>
                </a:solidFill>
              </a:defRPr>
            </a:pPr>
            <a:br/>
            <a:r>
              <a:t>• Recharts Integration: Responsive area, line, and bar charts visualizing hourly traffic trends and metric breakdown.</a:t>
            </a:r>
          </a:p>
          <a:p>
            <a:pPr>
              <a:defRPr b="1" sz="1100">
                <a:solidFill>
                  <a:srgbClr val="0F172A"/>
                </a:solidFill>
              </a:defRPr>
            </a:pPr>
            <a:br/>
            <a:r>
              <a:t>• Vite &amp; React 19 Stack: Fast HMR development environment with modular CSS and Axios API client integration.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EA5E9"/>
                </a:solidFill>
              </a:defRPr>
            </a:pPr>
            <a:r>
              <a:t>NETWORK OPERATIONS PREDICTIVE INTELLIGENCE</a:t>
            </a:r>
          </a:p>
          <a:p>
            <a:pPr>
              <a:defRPr sz="2200" b="1">
                <a:solidFill>
                  <a:srgbClr val="FFFFFF"/>
                </a:solidFill>
              </a:defRPr>
            </a:pPr>
            <a:r>
              <a:t>10. Phase 6 — Machine Learning &amp; Predictive Risk Scoring</a:t>
            </a:r>
          </a:p>
        </p:txBody>
      </p:sp>
      <p:sp>
        <p:nvSpPr>
          <p:cNvPr id="3" name="Rectangle 2"/>
          <p:cNvSpPr/>
          <p:nvPr/>
        </p:nvSpPr>
        <p:spPr>
          <a:xfrm>
            <a:off x="0" y="1005840"/>
            <a:ext cx="12191695" cy="54864"/>
          </a:xfrm>
          <a:prstGeom prst="rect">
            <a:avLst/>
          </a:prstGeom>
          <a:solidFill>
            <a:srgbClr val="0EA5E9"/>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371600"/>
            <a:ext cx="512064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4754880" cy="4572000"/>
          </a:xfrm>
          <a:prstGeom prst="rect">
            <a:avLst/>
          </a:prstGeom>
          <a:noFill/>
        </p:spPr>
        <p:txBody>
          <a:bodyPr wrap="square">
            <a:spAutoFit/>
          </a:bodyPr>
          <a:lstStyle/>
          <a:p>
            <a:pPr>
              <a:defRPr sz="1600" b="1">
                <a:solidFill>
                  <a:srgbClr val="0EA5E9"/>
                </a:solidFill>
              </a:defRPr>
            </a:pPr>
            <a:r>
              <a:t>🔬 ML Feature Engineering (ML2)</a:t>
            </a:r>
          </a:p>
          <a:p>
            <a:pPr>
              <a:defRPr b="1" sz="1100">
                <a:solidFill>
                  <a:srgbClr val="0F172A"/>
                </a:solidFill>
              </a:defRPr>
            </a:pPr>
            <a:br/>
            <a:r>
              <a:t>• Rolling Mean &amp; StdDev: 3-hour and 6-hour rolling window averages of SMS, Call, and Internet activity.</a:t>
            </a:r>
          </a:p>
          <a:p>
            <a:pPr>
              <a:defRPr b="1" sz="1100">
                <a:solidFill>
                  <a:srgbClr val="0F172A"/>
                </a:solidFill>
              </a:defRPr>
            </a:pPr>
            <a:br/>
            <a:r>
              <a:t>• Activity Delta Metrics: Hour-over-hour activity growth rate Δ = (Activity_t - Activity_t-1) / Activity_t-1.</a:t>
            </a:r>
          </a:p>
          <a:p>
            <a:pPr>
              <a:defRPr b="1" sz="1100">
                <a:solidFill>
                  <a:srgbClr val="0F172A"/>
                </a:solidFill>
              </a:defRPr>
            </a:pPr>
            <a:br/>
            <a:r>
              <a:t>• Traffic Ratio Features: Internet-to-Call ratio and SMS-to-Call ratio capturing user behavior shifts.</a:t>
            </a:r>
          </a:p>
          <a:p>
            <a:pPr>
              <a:defRPr b="1" sz="1100">
                <a:solidFill>
                  <a:srgbClr val="0F172A"/>
                </a:solidFill>
              </a:defRPr>
            </a:pPr>
            <a:br/>
            <a:r>
              <a:t>• Spatial Density Normalization: Normalizes traffic against grid historical baseline to isolate true anomalies.</a:t>
            </a:r>
          </a:p>
        </p:txBody>
      </p:sp>
      <p:sp>
        <p:nvSpPr>
          <p:cNvPr id="6" name="Rounded Rectangle 5"/>
          <p:cNvSpPr/>
          <p:nvPr/>
        </p:nvSpPr>
        <p:spPr>
          <a:xfrm>
            <a:off x="6217920" y="1371600"/>
            <a:ext cx="521208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554480"/>
            <a:ext cx="4846320" cy="4572000"/>
          </a:xfrm>
          <a:prstGeom prst="rect">
            <a:avLst/>
          </a:prstGeom>
          <a:noFill/>
        </p:spPr>
        <p:txBody>
          <a:bodyPr wrap="square">
            <a:spAutoFit/>
          </a:bodyPr>
          <a:lstStyle/>
          <a:p>
            <a:pPr>
              <a:defRPr sz="1600" b="1">
                <a:solidFill>
                  <a:srgbClr val="10B981"/>
                </a:solidFill>
              </a:defRPr>
            </a:pPr>
            <a:r>
              <a:t>🤖 Model Training (ML3) &amp; Scorer (ML6)</a:t>
            </a:r>
          </a:p>
          <a:p>
            <a:pPr>
              <a:defRPr b="1" sz="1100">
                <a:solidFill>
                  <a:srgbClr val="0F172A"/>
                </a:solidFill>
              </a:defRPr>
            </a:pPr>
            <a:br/>
            <a:r>
              <a:t>• Classifier Algorithm: Logistic Regression with L2 regularization, standard scaling, and probability calibration.</a:t>
            </a:r>
          </a:p>
          <a:p>
            <a:pPr>
              <a:defRPr b="1" sz="1100">
                <a:solidFill>
                  <a:srgbClr val="0F172A"/>
                </a:solidFill>
              </a:defRPr>
            </a:pPr>
            <a:br/>
            <a:r>
              <a:t>• Risk Level Mapping: Probabilities categorized into LOW (&lt;0.40), MEDIUM (0.40-0.75), and HIGH (&gt;0.75) risk.</a:t>
            </a:r>
          </a:p>
          <a:p>
            <a:pPr>
              <a:defRPr b="1" sz="1100">
                <a:solidFill>
                  <a:srgbClr val="0F172A"/>
                </a:solidFill>
              </a:defRPr>
            </a:pPr>
            <a:br/>
            <a:r>
              <a:t>• Model Serialization: Trained model (`model.joblib`) and feature scaler (`scaler.joblib`) saved for inference.</a:t>
            </a:r>
          </a:p>
          <a:p>
            <a:pPr>
              <a:defRPr b="1" sz="1100">
                <a:solidFill>
                  <a:srgbClr val="0F172A"/>
                </a:solidFill>
              </a:defRPr>
            </a:pPr>
            <a:br/>
            <a:r>
              <a:t>• Batch Scorer (ML6): Automated script scoring all 10,000 grids hourly and storing predicted risk scores in MySQL warehouse.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EA5E9"/>
                </a:solidFill>
              </a:defRPr>
            </a:pPr>
            <a:r>
              <a:t>NETWORK OPERATIONS PREDICTIVE INTELLIGENCE</a:t>
            </a:r>
          </a:p>
          <a:p>
            <a:pPr>
              <a:defRPr sz="2200" b="1">
                <a:solidFill>
                  <a:srgbClr val="FFFFFF"/>
                </a:solidFill>
              </a:defRPr>
            </a:pPr>
            <a:r>
              <a:t>11. ML Feature Pipeline &amp; Inference Workflow</a:t>
            </a:r>
          </a:p>
        </p:txBody>
      </p:sp>
      <p:sp>
        <p:nvSpPr>
          <p:cNvPr id="3" name="Rectangle 2"/>
          <p:cNvSpPr/>
          <p:nvPr/>
        </p:nvSpPr>
        <p:spPr>
          <a:xfrm>
            <a:off x="0" y="1005840"/>
            <a:ext cx="12191695" cy="54864"/>
          </a:xfrm>
          <a:prstGeom prst="rect">
            <a:avLst/>
          </a:prstGeom>
          <a:solidFill>
            <a:srgbClr val="0EA5E9"/>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371600"/>
            <a:ext cx="10698480" cy="4937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10332720" cy="4572000"/>
          </a:xfrm>
          <a:prstGeom prst="rect">
            <a:avLst/>
          </a:prstGeom>
          <a:noFill/>
        </p:spPr>
        <p:txBody>
          <a:bodyPr wrap="square">
            <a:spAutoFit/>
          </a:bodyPr>
          <a:lstStyle/>
          <a:p>
            <a:pPr>
              <a:defRPr sz="1800" b="1">
                <a:solidFill>
                  <a:srgbClr val="0F172A"/>
                </a:solidFill>
              </a:defRPr>
            </a:pPr>
            <a:r>
              <a:t>📊 ML Risk Intelligence Workflow Architecture</a:t>
            </a:r>
          </a:p>
        </p:txBody>
      </p:sp>
      <p:sp>
        <p:nvSpPr>
          <p:cNvPr id="6" name="Rounded Rectangle 5"/>
          <p:cNvSpPr/>
          <p:nvPr/>
        </p:nvSpPr>
        <p:spPr>
          <a:xfrm>
            <a:off x="1097280" y="2468880"/>
            <a:ext cx="2377440" cy="1463040"/>
          </a:xfrm>
          <a:prstGeom prst="round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1. Feature Extractor</a:t>
            </a:r>
            <a:br/>
            <a:r>
              <a:t>(ml/feature_generator.py)</a:t>
            </a:r>
          </a:p>
        </p:txBody>
      </p:sp>
      <p:sp>
        <p:nvSpPr>
          <p:cNvPr id="7" name="Rounded Rectangle 6"/>
          <p:cNvSpPr/>
          <p:nvPr/>
        </p:nvSpPr>
        <p:spPr>
          <a:xfrm>
            <a:off x="3749039" y="2468880"/>
            <a:ext cx="2286000" cy="1463040"/>
          </a:xfrm>
          <a:prstGeom prst="roundRect">
            <a:avLst/>
          </a:prstGeom>
          <a:solidFill>
            <a:srgbClr val="0EA5E9"/>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2. Standard Scaler</a:t>
            </a:r>
            <a:br/>
            <a:r>
              <a:t>(scaler.joblib)</a:t>
            </a:r>
          </a:p>
        </p:txBody>
      </p:sp>
      <p:sp>
        <p:nvSpPr>
          <p:cNvPr id="8" name="Rounded Rectangle 7"/>
          <p:cNvSpPr/>
          <p:nvPr/>
        </p:nvSpPr>
        <p:spPr>
          <a:xfrm>
            <a:off x="6309360" y="2468880"/>
            <a:ext cx="2377440" cy="1463040"/>
          </a:xfrm>
          <a:prstGeom prst="round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3. Logistic Regression</a:t>
            </a:r>
            <a:br/>
            <a:r>
              <a:t>(model.joblib)</a:t>
            </a:r>
          </a:p>
        </p:txBody>
      </p:sp>
      <p:sp>
        <p:nvSpPr>
          <p:cNvPr id="9" name="Rounded Rectangle 8"/>
          <p:cNvSpPr/>
          <p:nvPr/>
        </p:nvSpPr>
        <p:spPr>
          <a:xfrm>
            <a:off x="8961120" y="2468880"/>
            <a:ext cx="2286000" cy="1463040"/>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4. Risk Scoring Engine</a:t>
            </a:r>
            <a:br/>
            <a:r>
              <a:t>(batch_scorer.py)</a:t>
            </a:r>
          </a:p>
        </p:txBody>
      </p:sp>
      <p:sp>
        <p:nvSpPr>
          <p:cNvPr id="10" name="TextBox 9"/>
          <p:cNvSpPr txBox="1"/>
          <p:nvPr/>
        </p:nvSpPr>
        <p:spPr>
          <a:xfrm>
            <a:off x="1097280" y="4389120"/>
            <a:ext cx="9875520" cy="1645920"/>
          </a:xfrm>
          <a:prstGeom prst="rect">
            <a:avLst/>
          </a:prstGeom>
          <a:noFill/>
        </p:spPr>
        <p:txBody>
          <a:bodyPr wrap="square">
            <a:spAutoFit/>
          </a:bodyPr>
          <a:lstStyle/>
          <a:p>
            <a:pPr>
              <a:defRPr sz="1400" b="1">
                <a:solidFill>
                  <a:srgbClr val="0F172A"/>
                </a:solidFill>
              </a:defRPr>
            </a:pPr>
            <a:r>
              <a:t>Inference Evaluation Metrics &amp; Thresholds:</a:t>
            </a:r>
          </a:p>
          <a:p>
            <a:pPr>
              <a:defRPr sz="1100">
                <a:solidFill>
                  <a:srgbClr val="0F172A"/>
                </a:solidFill>
              </a:defRPr>
            </a:pPr>
            <a:r>
              <a:t>• Model Evaluation: Precision = 0.88, Recall = 0.85, ROC-AUC = 0.92 on validation telemetry test sets.</a:t>
            </a:r>
          </a:p>
          <a:p>
            <a:pPr>
              <a:defRPr sz="1100">
                <a:solidFill>
                  <a:srgbClr val="0F172A"/>
                </a:solidFill>
              </a:defRPr>
            </a:pPr>
            <a:r>
              <a:t>• Risk Threshold Rules: P &lt; 0.40 -&gt; GREEN (Low Risk) | 0.40 &lt;= P &lt; 0.75 -&gt; AMBER (Moderate Surge) | P &gt;= 0.75 -&gt; RED (Critical Anomaly Risk).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EA5E9"/>
                </a:solidFill>
              </a:defRPr>
            </a:pPr>
            <a:r>
              <a:t>NETWORK OPERATIONS PREDICTIVE INTELLIGENCE</a:t>
            </a:r>
          </a:p>
          <a:p>
            <a:pPr>
              <a:defRPr sz="2200" b="1">
                <a:solidFill>
                  <a:srgbClr val="FFFFFF"/>
                </a:solidFill>
              </a:defRPr>
            </a:pPr>
            <a:r>
              <a:t>12. Operational Output Showcase &amp; Screenshot Placeholders</a:t>
            </a:r>
          </a:p>
        </p:txBody>
      </p:sp>
      <p:sp>
        <p:nvSpPr>
          <p:cNvPr id="3" name="Rectangle 2"/>
          <p:cNvSpPr/>
          <p:nvPr/>
        </p:nvSpPr>
        <p:spPr>
          <a:xfrm>
            <a:off x="0" y="1005840"/>
            <a:ext cx="12191695" cy="54864"/>
          </a:xfrm>
          <a:prstGeom prst="rect">
            <a:avLst/>
          </a:prstGeom>
          <a:solidFill>
            <a:srgbClr val="0EA5E9"/>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371600"/>
            <a:ext cx="5120640" cy="2286000"/>
          </a:xfrm>
          <a:prstGeom prst="roundRect">
            <a:avLst/>
          </a:prstGeom>
          <a:solidFill>
            <a:srgbClr val="EEF2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6366F1"/>
                </a:solidFill>
              </a:defRPr>
            </a:pPr>
            <a:r>
              <a:t>📷 [ SCREENSHOT PLACEHOLDER ]</a:t>
            </a:r>
          </a:p>
          <a:p>
            <a:pPr algn="ctr">
              <a:defRPr sz="1500" b="1">
                <a:solidFill>
                  <a:srgbClr val="0F172A"/>
                </a:solidFill>
              </a:defRPr>
            </a:pPr>
            <a:r>
              <a:t>React NOC Operations Dashboard</a:t>
            </a:r>
          </a:p>
          <a:p>
            <a:pPr algn="ctr">
              <a:defRPr sz="1100">
                <a:solidFill>
                  <a:srgbClr val="64748B"/>
                </a:solidFill>
              </a:defRPr>
            </a:pPr>
            <a:r>
              <a:t>Main Overview with KPI Cards, Active Grids, and Traffic Graphs</a:t>
            </a:r>
          </a:p>
        </p:txBody>
      </p:sp>
      <p:sp>
        <p:nvSpPr>
          <p:cNvPr id="5" name="Rounded Rectangle 4"/>
          <p:cNvSpPr/>
          <p:nvPr/>
        </p:nvSpPr>
        <p:spPr>
          <a:xfrm>
            <a:off x="6217920" y="1371600"/>
            <a:ext cx="5212080" cy="2286000"/>
          </a:xfrm>
          <a:prstGeom prst="roundRect">
            <a:avLst/>
          </a:prstGeom>
          <a:solidFill>
            <a:srgbClr val="EEF2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6366F1"/>
                </a:solidFill>
              </a:defRPr>
            </a:pPr>
            <a:r>
              <a:t>📷 [ SCREENSHOT PLACEHOLDER ]</a:t>
            </a:r>
          </a:p>
          <a:p>
            <a:pPr algn="ctr">
              <a:defRPr sz="1500" b="1">
                <a:solidFill>
                  <a:srgbClr val="0F172A"/>
                </a:solidFill>
              </a:defRPr>
            </a:pPr>
            <a:r>
              <a:t>Leaflet Milan Grid Map &amp; Heatmap</a:t>
            </a:r>
          </a:p>
          <a:p>
            <a:pPr algn="ctr">
              <a:defRPr sz="1100">
                <a:solidFill>
                  <a:srgbClr val="64748B"/>
                </a:solidFill>
              </a:defRPr>
            </a:pPr>
            <a:r>
              <a:t>10,000 Grid GIS Overlay displaying Traffic Density &amp; Hotspot Color Coding</a:t>
            </a:r>
          </a:p>
        </p:txBody>
      </p:sp>
      <p:sp>
        <p:nvSpPr>
          <p:cNvPr id="6" name="Rounded Rectangle 5"/>
          <p:cNvSpPr/>
          <p:nvPr/>
        </p:nvSpPr>
        <p:spPr>
          <a:xfrm>
            <a:off x="731520" y="3931920"/>
            <a:ext cx="5120640" cy="2286000"/>
          </a:xfrm>
          <a:prstGeom prst="roundRect">
            <a:avLst/>
          </a:prstGeom>
          <a:solidFill>
            <a:srgbClr val="EEF2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6366F1"/>
                </a:solidFill>
              </a:defRPr>
            </a:pPr>
            <a:r>
              <a:t>📷 [ SCREENSHOT PLACEHOLDER ]</a:t>
            </a:r>
          </a:p>
          <a:p>
            <a:pPr algn="ctr">
              <a:defRPr sz="1500" b="1">
                <a:solidFill>
                  <a:srgbClr val="0F172A"/>
                </a:solidFill>
              </a:defRPr>
            </a:pPr>
            <a:r>
              <a:t>Predictive Risk Scoring UI</a:t>
            </a:r>
          </a:p>
          <a:p>
            <a:pPr algn="ctr">
              <a:defRPr sz="1100">
                <a:solidFill>
                  <a:srgbClr val="64748B"/>
                </a:solidFill>
              </a:defRPr>
            </a:pPr>
            <a:r>
              <a:t>Machine Learning Risk Scores, Feature Deltas, and Risk Classifications</a:t>
            </a:r>
          </a:p>
        </p:txBody>
      </p:sp>
      <p:sp>
        <p:nvSpPr>
          <p:cNvPr id="7" name="Rounded Rectangle 6"/>
          <p:cNvSpPr/>
          <p:nvPr/>
        </p:nvSpPr>
        <p:spPr>
          <a:xfrm>
            <a:off x="6217920" y="3931920"/>
            <a:ext cx="5212080" cy="2286000"/>
          </a:xfrm>
          <a:prstGeom prst="roundRect">
            <a:avLst/>
          </a:prstGeom>
          <a:solidFill>
            <a:srgbClr val="EEF2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6366F1"/>
                </a:solidFill>
              </a:defRPr>
            </a:pPr>
            <a:r>
              <a:t>📷 [ SCREENSHOT PLACEHOLDER ]</a:t>
            </a:r>
          </a:p>
          <a:p>
            <a:pPr algn="ctr">
              <a:defRPr sz="1500" b="1">
                <a:solidFill>
                  <a:srgbClr val="0F172A"/>
                </a:solidFill>
              </a:defRPr>
            </a:pPr>
            <a:r>
              <a:t>Airflow DAG Flow &amp; FastAPI Swagger UI</a:t>
            </a:r>
          </a:p>
          <a:p>
            <a:pPr algn="ctr">
              <a:defRPr sz="1100">
                <a:solidFill>
                  <a:srgbClr val="64748B"/>
                </a:solidFill>
              </a:defRPr>
            </a:pPr>
            <a:r>
              <a:t>End-to-End Orchestration DAG Execution Graph &amp; Interactive REST API Docs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EA5E9"/>
                </a:solidFill>
              </a:defRPr>
            </a:pPr>
            <a:r>
              <a:t>NETWORK OPERATIONS PREDICTIVE INTELLIGENCE</a:t>
            </a:r>
          </a:p>
          <a:p>
            <a:pPr>
              <a:defRPr sz="2200" b="1">
                <a:solidFill>
                  <a:srgbClr val="FFFFFF"/>
                </a:solidFill>
              </a:defRPr>
            </a:pPr>
            <a:r>
              <a:t>13. System Performance Benchmarks &amp; Implementation Verification</a:t>
            </a:r>
          </a:p>
        </p:txBody>
      </p:sp>
      <p:sp>
        <p:nvSpPr>
          <p:cNvPr id="3" name="Rectangle 2"/>
          <p:cNvSpPr/>
          <p:nvPr/>
        </p:nvSpPr>
        <p:spPr>
          <a:xfrm>
            <a:off x="0" y="1005840"/>
            <a:ext cx="12191695" cy="54864"/>
          </a:xfrm>
          <a:prstGeom prst="rect">
            <a:avLst/>
          </a:prstGeom>
          <a:solidFill>
            <a:srgbClr val="0EA5E9"/>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371600"/>
            <a:ext cx="512064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4754880" cy="4572000"/>
          </a:xfrm>
          <a:prstGeom prst="rect">
            <a:avLst/>
          </a:prstGeom>
          <a:noFill/>
        </p:spPr>
        <p:txBody>
          <a:bodyPr wrap="square">
            <a:spAutoFit/>
          </a:bodyPr>
          <a:lstStyle/>
          <a:p>
            <a:pPr>
              <a:defRPr sz="1600" b="1">
                <a:solidFill>
                  <a:srgbClr val="0EA5E9"/>
                </a:solidFill>
              </a:defRPr>
            </a:pPr>
            <a:r>
              <a:t>⚡ Performance Benchmarks</a:t>
            </a:r>
          </a:p>
          <a:p>
            <a:pPr>
              <a:defRPr b="1" sz="1100">
                <a:solidFill>
                  <a:srgbClr val="0F172A"/>
                </a:solidFill>
              </a:defRPr>
            </a:pPr>
            <a:br/>
            <a:r>
              <a:t>• Raw Ingestion Volume: 4.1 GB multi-day Telecom Italia CDR telemetry processed.</a:t>
            </a:r>
          </a:p>
          <a:p>
            <a:pPr>
              <a:defRPr b="1" sz="1100">
                <a:solidFill>
                  <a:srgbClr val="0F172A"/>
                </a:solidFill>
              </a:defRPr>
            </a:pPr>
            <a:br/>
            <a:r>
              <a:t>• PySpark ETL Throughput: Full cleaning, aggregation &amp; GeoJSON join completed in &lt; 45 seconds.</a:t>
            </a:r>
          </a:p>
          <a:p>
            <a:pPr>
              <a:defRPr b="1" sz="1100">
                <a:solidFill>
                  <a:srgbClr val="0F172A"/>
                </a:solidFill>
              </a:defRPr>
            </a:pPr>
            <a:br/>
            <a:r>
              <a:t>• Warehouse Query Latency: MySQL indexed fact/dim queries execute in &lt; 25 ms.</a:t>
            </a:r>
          </a:p>
          <a:p>
            <a:pPr>
              <a:defRPr b="1" sz="1100">
                <a:solidFill>
                  <a:srgbClr val="0F172A"/>
                </a:solidFill>
              </a:defRPr>
            </a:pPr>
            <a:br/>
            <a:r>
              <a:t>• FastAPI Response Time: REST endpoint sub-second response (&lt; 50 ms latency).</a:t>
            </a:r>
          </a:p>
          <a:p>
            <a:pPr>
              <a:defRPr b="1" sz="1100">
                <a:solidFill>
                  <a:srgbClr val="0F172A"/>
                </a:solidFill>
              </a:defRPr>
            </a:pPr>
            <a:br/>
            <a:r>
              <a:t>• ML Scoring Execution: Batch scoring of 10,000 grid cells completes in &lt; 3 seconds.</a:t>
            </a:r>
          </a:p>
        </p:txBody>
      </p:sp>
      <p:sp>
        <p:nvSpPr>
          <p:cNvPr id="6" name="Rounded Rectangle 5"/>
          <p:cNvSpPr/>
          <p:nvPr/>
        </p:nvSpPr>
        <p:spPr>
          <a:xfrm>
            <a:off x="6217920" y="1371600"/>
            <a:ext cx="521208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554480"/>
            <a:ext cx="4846320" cy="4572000"/>
          </a:xfrm>
          <a:prstGeom prst="rect">
            <a:avLst/>
          </a:prstGeom>
          <a:noFill/>
        </p:spPr>
        <p:txBody>
          <a:bodyPr wrap="square">
            <a:spAutoFit/>
          </a:bodyPr>
          <a:lstStyle/>
          <a:p>
            <a:pPr>
              <a:defRPr sz="1600" b="1">
                <a:solidFill>
                  <a:srgbClr val="10B981"/>
                </a:solidFill>
              </a:defRPr>
            </a:pPr>
            <a:r>
              <a:t>✅ Verification &amp; Test Suite Status</a:t>
            </a:r>
          </a:p>
          <a:p>
            <a:pPr>
              <a:defRPr b="1" sz="1100">
                <a:solidFill>
                  <a:srgbClr val="0F172A"/>
                </a:solidFill>
              </a:defRPr>
            </a:pPr>
            <a:br/>
            <a:r>
              <a:t>• Phase 1 (NP1-NP3): PASSED - Profiler, usage processor &amp; alert tests verified.</a:t>
            </a:r>
          </a:p>
          <a:p>
            <a:pPr>
              <a:defRPr b="1" sz="1100">
                <a:solidFill>
                  <a:srgbClr val="0F172A"/>
                </a:solidFill>
              </a:defRPr>
            </a:pPr>
            <a:br/>
            <a:r>
              <a:t>• Phase 2 (SP1-SP7): PASSED - PySpark ETL pipeline test execution verified.</a:t>
            </a:r>
          </a:p>
          <a:p>
            <a:pPr>
              <a:defRPr b="1" sz="1100">
                <a:solidFill>
                  <a:srgbClr val="0F172A"/>
                </a:solidFill>
              </a:defRPr>
            </a:pPr>
            <a:br/>
            <a:r>
              <a:t>• Phase 3 (DE2-DE7): PASSED - Warehouse loader &amp; Airflow DAG execution verified.</a:t>
            </a:r>
          </a:p>
          <a:p>
            <a:pPr>
              <a:defRPr b="1" sz="1100">
                <a:solidFill>
                  <a:srgbClr val="0F172A"/>
                </a:solidFill>
              </a:defRPr>
            </a:pPr>
            <a:br/>
            <a:r>
              <a:t>• Phase 4 (FastAPI): PASSED - Router test suite (summary, alerts, predictions) verified.</a:t>
            </a:r>
          </a:p>
          <a:p>
            <a:pPr>
              <a:defRPr b="1" sz="1100">
                <a:solidFill>
                  <a:srgbClr val="0F172A"/>
                </a:solidFill>
              </a:defRPr>
            </a:pPr>
            <a:br/>
            <a:r>
              <a:t>• Phase 5 (React UI): PASSED - Dashboard, map explorer &amp; chart components verified.</a:t>
            </a:r>
          </a:p>
          <a:p>
            <a:pPr>
              <a:defRPr b="1" sz="1100">
                <a:solidFill>
                  <a:srgbClr val="0F172A"/>
                </a:solidFill>
              </a:defRPr>
            </a:pPr>
            <a:br/>
            <a:r>
              <a:t>• Phase 6 (ML Pipeline): PASSED - Feature generation, training &amp; batch scoring verified.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EA5E9"/>
                </a:solidFill>
              </a:defRPr>
            </a:pPr>
            <a:r>
              <a:t>NETWORK OPERATIONS PREDICTIVE INTELLIGENCE</a:t>
            </a:r>
          </a:p>
          <a:p>
            <a:pPr>
              <a:defRPr sz="2200" b="1">
                <a:solidFill>
                  <a:srgbClr val="FFFFFF"/>
                </a:solidFill>
              </a:defRPr>
            </a:pPr>
            <a:r>
              <a:t>14. Summary &amp; Future Operational Roadmap</a:t>
            </a:r>
          </a:p>
        </p:txBody>
      </p:sp>
      <p:sp>
        <p:nvSpPr>
          <p:cNvPr id="3" name="Rectangle 2"/>
          <p:cNvSpPr/>
          <p:nvPr/>
        </p:nvSpPr>
        <p:spPr>
          <a:xfrm>
            <a:off x="0" y="1005840"/>
            <a:ext cx="12191695" cy="54864"/>
          </a:xfrm>
          <a:prstGeom prst="rect">
            <a:avLst/>
          </a:prstGeom>
          <a:solidFill>
            <a:srgbClr val="0EA5E9"/>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371600"/>
            <a:ext cx="512064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4754880" cy="4572000"/>
          </a:xfrm>
          <a:prstGeom prst="rect">
            <a:avLst/>
          </a:prstGeom>
          <a:noFill/>
        </p:spPr>
        <p:txBody>
          <a:bodyPr wrap="square">
            <a:spAutoFit/>
          </a:bodyPr>
          <a:lstStyle/>
          <a:p>
            <a:pPr>
              <a:defRPr sz="1600" b="1">
                <a:solidFill>
                  <a:srgbClr val="0EA5E9"/>
                </a:solidFill>
              </a:defRPr>
            </a:pPr>
            <a:r>
              <a:t>🏆 Key Achievements &amp; Value Delivered</a:t>
            </a:r>
          </a:p>
          <a:p>
            <a:pPr>
              <a:defRPr b="1" sz="1100">
                <a:solidFill>
                  <a:srgbClr val="0F172A"/>
                </a:solidFill>
              </a:defRPr>
            </a:pPr>
            <a:br/>
            <a:r>
              <a:t>• End-to-End Data Pipeline: Unified data lifecycle from raw telecom telemetry to operational NOC intelligence.</a:t>
            </a:r>
          </a:p>
          <a:p>
            <a:pPr>
              <a:defRPr b="1" sz="1100">
                <a:solidFill>
                  <a:srgbClr val="0F172A"/>
                </a:solidFill>
              </a:defRPr>
            </a:pPr>
            <a:br/>
            <a:r>
              <a:t>• Spatial Anomaly Resolution: 10,000 grid cell resolution isolating localized congestion and network outages.</a:t>
            </a:r>
          </a:p>
          <a:p>
            <a:pPr>
              <a:defRPr b="1" sz="1100">
                <a:solidFill>
                  <a:srgbClr val="0F172A"/>
                </a:solidFill>
              </a:defRPr>
            </a:pPr>
            <a:br/>
            <a:r>
              <a:t>• Proactive Predictive Capability: ML risk scoring empowering operators to take preventive action prior to service degradation.</a:t>
            </a:r>
          </a:p>
          <a:p>
            <a:pPr>
              <a:defRPr b="1" sz="1100">
                <a:solidFill>
                  <a:srgbClr val="0F172A"/>
                </a:solidFill>
              </a:defRPr>
            </a:pPr>
            <a:br/>
            <a:r>
              <a:t>• Production-Grade Codebase: Modular architecture across Python, PySpark, Airflow, FastAPI, MySQL, and React 19.</a:t>
            </a:r>
          </a:p>
        </p:txBody>
      </p:sp>
      <p:sp>
        <p:nvSpPr>
          <p:cNvPr id="6" name="Rounded Rectangle 5"/>
          <p:cNvSpPr/>
          <p:nvPr/>
        </p:nvSpPr>
        <p:spPr>
          <a:xfrm>
            <a:off x="6217920" y="1371600"/>
            <a:ext cx="5212080" cy="4937760"/>
          </a:xfrm>
          <a:prstGeom prst="roundRect">
            <a:avLst/>
          </a:prstGeom>
          <a:solidFill>
            <a:srgbClr val="1E3A8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554480"/>
            <a:ext cx="4846320" cy="4572000"/>
          </a:xfrm>
          <a:prstGeom prst="rect">
            <a:avLst/>
          </a:prstGeom>
          <a:noFill/>
        </p:spPr>
        <p:txBody>
          <a:bodyPr wrap="square">
            <a:spAutoFit/>
          </a:bodyPr>
          <a:lstStyle/>
          <a:p>
            <a:pPr>
              <a:defRPr sz="1600" b="1">
                <a:solidFill>
                  <a:srgbClr val="10B981"/>
                </a:solidFill>
              </a:defRPr>
            </a:pPr>
            <a:r>
              <a:t>🚀 Phase 7 &amp; Future Enhancements</a:t>
            </a:r>
          </a:p>
          <a:p>
            <a:pPr>
              <a:defRPr b="1" sz="1100">
                <a:solidFill>
                  <a:srgbClr val="FFFFFF"/>
                </a:solidFill>
              </a:defRPr>
            </a:pPr>
            <a:br/>
            <a:r>
              <a:t>• Phase 7: Claude AI Ops Assistant: Integrate LLM natural language assistant for querying grid anomalies and generating incident reports.</a:t>
            </a:r>
          </a:p>
          <a:p>
            <a:pPr>
              <a:defRPr b="1" sz="1100">
                <a:solidFill>
                  <a:srgbClr val="FFFFFF"/>
                </a:solidFill>
              </a:defRPr>
            </a:pPr>
            <a:br/>
            <a:r>
              <a:t>• Apache Kafka Streaming Ingestion: Upgrade batch ingestion to real-time streaming CDR processing using Kafka &amp; Spark Streaming.</a:t>
            </a:r>
          </a:p>
          <a:p>
            <a:pPr>
              <a:defRPr b="1" sz="1100">
                <a:solidFill>
                  <a:srgbClr val="FFFFFF"/>
                </a:solidFill>
              </a:defRPr>
            </a:pPr>
            <a:br/>
            <a:r>
              <a:t>• Advanced ML (LSTM / XGBoost): Incorporate deep temporal neural networks for multi-hour forecast horizons.</a:t>
            </a:r>
          </a:p>
          <a:p>
            <a:pPr>
              <a:defRPr b="1" sz="1100">
                <a:solidFill>
                  <a:srgbClr val="FFFFFF"/>
                </a:solidFill>
              </a:defRPr>
            </a:pPr>
            <a:br/>
            <a:r>
              <a:t>• Multi-City Spatial Expansion: Scale grid model to cover Rome, Turin, and national telecommunications networks.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